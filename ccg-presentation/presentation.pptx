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PowerPoint Slide-by-Slide Content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Ready to Copy-Paste into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Instructions</a:t>
            </a:r>
            <a:r>
              <a:rPr/>
              <a:t>: Each section below is one slide. Copy the content and paste directly into PowerPoint. Use the layout suggestions provided.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Slide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</a:t>
            </a:r>
          </a:p>
          <a:p>
            <a:pPr lvl="0" indent="0" marL="0">
              <a:buNone/>
            </a:pPr>
            <a:r>
              <a:rPr/>
              <a:t>Contoso Consulting Group Multi-Agent Timesheet Assistant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Subtitle:</a:t>
            </a:r>
          </a:p>
          <a:p>
            <a:pPr lvl="0" indent="0" marL="0">
              <a:buNone/>
            </a:pPr>
            <a:r>
              <a:rPr/>
              <a:t>Production-Ready Agentic AI with Microsoft Agent Framework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Info:</a:t>
            </a:r>
          </a:p>
          <a:p>
            <a:pPr lvl="0" indent="0" marL="0">
              <a:buNone/>
            </a:pPr>
            <a:r>
              <a:rPr/>
              <a:t>Arturo Quiroga Cloud Solution Architect - Data &amp; AI, Microsoft</a:t>
            </a:r>
          </a:p>
          <a:p>
            <a:pPr lvl="0" indent="0" marL="0">
              <a:buNone/>
            </a:pPr>
            <a:r>
              <a:rPr/>
              <a:t>TTU Agentic Revolution Challenge November 14, 2025</a:t>
            </a:r>
          </a:p>
          <a:p>
            <a:pPr lvl="0" indent="0" marL="0">
              <a:buNone/>
            </a:pPr>
            <a:r>
              <a:rPr b="1"/>
              <a:t>Design Note</a:t>
            </a:r>
            <a:r>
              <a:rPr/>
              <a:t>: Use Azure blue gradient background, add consultant/AI icon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(2 columns)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The Business Problem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Left Column - Lost Revenue:</a:t>
            </a:r>
          </a:p>
          <a:p>
            <a:pPr lvl="0" indent="0" marL="0">
              <a:buNone/>
            </a:pPr>
            <a:r>
              <a:rPr/>
              <a:t>• Consultants lose 10-15% of billable time annually • Travel time most commonly missed • Client meetings forgotten in timesheets • Manual reconciliation wastes 15-20 min/week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Right Column - Business Impact:</a:t>
            </a:r>
          </a:p>
          <a:p>
            <a:pPr lvl="0" indent="0" marL="0">
              <a:buNone/>
            </a:pPr>
            <a:r>
              <a:rPr/>
              <a:t>💰 $1,000/week lost per consultant ⏱️ 15-20 minutes/week wasted ⚠️ Compliance risks 📉 Billing inconsistencies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Bottom - Our Solution:</a:t>
            </a:r>
          </a:p>
          <a:p>
            <a:pPr lvl="0" indent="0" marL="0">
              <a:buNone/>
            </a:pPr>
            <a:r>
              <a:rPr/>
              <a:t>Three-phase evolution: Single-Agent Demo → Multi-Agent Development → Production System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Start with relatable question: “How many of you forget to log travel time?” Emphasize this is real money being lost.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Solution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(3 columns)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Three Phases of Innovation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Column 1 - Phase 1: Single-Agent POC</a:t>
            </a:r>
          </a:p>
          <a:p>
            <a:pPr lvl="0" indent="0" marL="0">
              <a:buNone/>
            </a:pPr>
            <a:r>
              <a:rPr/>
              <a:t>🤖 Proof of Concept • Microsoft Agent Framework • Basic calendar + timesheet analysis • Read-only suggestions Status: ✅ Validated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Column 2 - Phase 2: Multi-Agent Dev</a:t>
            </a:r>
          </a:p>
          <a:p>
            <a:pPr lvl="0" indent="0" marL="0">
              <a:buNone/>
            </a:pPr>
            <a:r>
              <a:rPr/>
              <a:t>🔷 Specialized Architecture • 4 specialized agents • Parallel execution (2x faster) • Domain expertise Status: ✅ Performance Proven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Column 3 - Phase 3: Production ⭐</a:t>
            </a:r>
          </a:p>
          <a:p>
            <a:pPr lvl="0" indent="0" marL="0">
              <a:buNone/>
            </a:pPr>
            <a:r>
              <a:rPr/>
              <a:t>🚀 Enterprise Ready • 5 agents (+ Approval) • Write capabilities • Complete audit trail • Azure deployment Status: ✅ Production Ready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“Each phase built on the previous. We didn’t just build a demo - we built a production system.”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Multi-Agent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(with large diagram)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Multi-Agent Architecture - How It Works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Main Content Area:</a:t>
            </a:r>
          </a:p>
          <a:p>
            <a:pPr lvl="0" indent="0" marL="0">
              <a:buNone/>
            </a:pPr>
            <a:r>
              <a:rPr/>
              <a:t>[INSERT DIAGRAM: diagrams/architecture.md - the production version]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Below Diagram - Key Benefits:</a:t>
            </a:r>
          </a:p>
          <a:p>
            <a:pPr lvl="0" indent="0" marL="0">
              <a:buNone/>
            </a:pPr>
            <a:r>
              <a:rPr/>
              <a:t>• ⚡ Parallel Execution: 2x faster than sequential • 🎯 Specialized Expertise: Each agent masters one domain • 📈 Scalable: Add agents without breaking system • ✅ Approval Workflow: User controls all writes • 📋 Audit Trail: 100% compliance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“Notice the Orchestrator at top coordinates 5 specialized agents. Calendar and Timesheet agents run in parallel - that’s why it’s fast.”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The Five Specialized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(table or 5 boxes)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Agent Specialization &amp; Roles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Agent 1 - 📅 Calendar Agent</a:t>
            </a:r>
          </a:p>
          <a:p>
            <a:pPr lvl="0" indent="0" marL="0">
              <a:buNone/>
            </a:pPr>
            <a:r>
              <a:rPr/>
              <a:t>Expert in: Calendar event analysis Identifies: Travel time, client meetings, billable events Tool: get_calendar_events()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Agent 2 - 📝 Timesheet Agent</a:t>
            </a:r>
          </a:p>
          <a:p>
            <a:pPr lvl="0" indent="0" marL="0">
              <a:buNone/>
            </a:pPr>
            <a:r>
              <a:rPr/>
              <a:t>Expert in: Timesheet validation Identifies: Logged entries, gaps, missing time Tool: get_timesheet_entries()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Agent 3 - 💡 Suggestion Agent</a:t>
            </a:r>
          </a:p>
          <a:p>
            <a:pPr lvl="0" indent="0" marL="0">
              <a:buNone/>
            </a:pPr>
            <a:r>
              <a:rPr/>
              <a:t>Expert in: Recommendation synthesis Identifies: Missing entries, cross-references data Tool: suggest_timesheet_entry()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Agent 4 - ✅ Approval Agent (Production) ⭐</a:t>
            </a:r>
          </a:p>
          <a:p>
            <a:pPr lvl="0" indent="0" marL="0">
              <a:buNone/>
            </a:pPr>
            <a:r>
              <a:rPr/>
              <a:t>Expert in: Approval workflow Handles: Write operations, rejections, audit logging Tools: add_timesheet_entry(), reject_suggestion(), get_audit_log()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Agent 5 - 💰 Revenue Agent</a:t>
            </a:r>
          </a:p>
          <a:p>
            <a:pPr lvl="0" indent="0" marL="0">
              <a:buNone/>
            </a:pPr>
            <a:r>
              <a:rPr/>
              <a:t>Expert in: Financial impact Calculates: Lost revenue, ROI, firm-wide projections Tool: calculate_revenue_impact()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“Each agent is like a specialist on your team. The Approval Agent is production-only - it’s the gatekeeper for all writes.”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Workflow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(with diagram)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Production Workflow - From Analysis to Approval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Main Content:</a:t>
            </a:r>
          </a:p>
          <a:p>
            <a:pPr lvl="0" indent="0" marL="0">
              <a:buNone/>
            </a:pPr>
            <a:r>
              <a:rPr/>
              <a:t>[INSERT DIAGRAM: diagrams/workflow.md - sequence diagram]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Steps Listed:</a:t>
            </a:r>
          </a:p>
          <a:p>
            <a:pPr lvl="0" indent="-342900" marL="342900">
              <a:buAutoNum type="arabicPeriod"/>
            </a:pPr>
            <a:r>
              <a:rPr/>
              <a:t>Analysis Phase: Calendar + Timesheet agents (parallel)</a:t>
            </a:r>
          </a:p>
          <a:p>
            <a:pPr lvl="0" indent="-342900" marL="342900">
              <a:buAutoNum type="arabicPeriod"/>
            </a:pPr>
            <a:r>
              <a:rPr/>
              <a:t>Synthesis Phase: Suggestion agent proposes entries</a:t>
            </a:r>
          </a:p>
          <a:p>
            <a:pPr lvl="0" indent="-342900" marL="342900">
              <a:buAutoNum type="arabicPeriod"/>
            </a:pPr>
            <a:r>
              <a:rPr/>
              <a:t>Review Phase: User sees suggestions with rationale</a:t>
            </a:r>
          </a:p>
          <a:p>
            <a:pPr lvl="0" indent="-342900" marL="342900">
              <a:buAutoNum type="arabicPeriod"/>
            </a:pPr>
            <a:r>
              <a:rPr/>
              <a:t>Approval Phase: User approves or rejects ⭐</a:t>
            </a:r>
          </a:p>
          <a:p>
            <a:pPr lvl="0" indent="-342900" marL="342900">
              <a:buAutoNum type="arabicPeriod"/>
            </a:pPr>
            <a:r>
              <a:rPr/>
              <a:t>Write Phase: Approved entries written to timesheet ⭐</a:t>
            </a:r>
          </a:p>
          <a:p>
            <a:pPr lvl="0" indent="-342900" marL="342900">
              <a:buAutoNum type="arabicPeriod"/>
            </a:pPr>
            <a:r>
              <a:rPr/>
              <a:t>Audit Phase: All actions logged for compliance ⭐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“Notice steps 4-6 are new in production. User approval required before any write. Everything is audited.”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Two Content (50/50 split)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Live Demonstration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Left Side - Demo Scenario:</a:t>
            </a:r>
          </a:p>
          <a:p>
            <a:pPr lvl="0" indent="0" marL="0">
              <a:buNone/>
            </a:pPr>
            <a:r>
              <a:rPr/>
              <a:t>User: Sarah Johnson, Senior Consultant Period: November 13-14, 2025</a:t>
            </a:r>
          </a:p>
          <a:p>
            <a:pPr lvl="0" indent="0" marL="0">
              <a:buNone/>
            </a:pPr>
            <a:r>
              <a:rPr/>
              <a:t>Data: • 7 calendar events • 2 timesheet entries (3.5 hours) • 5 events missing (8 hours unbilled)</a:t>
            </a:r>
          </a:p>
          <a:p>
            <a:pPr lvl="0" indent="0" marL="0">
              <a:buNone/>
            </a:pPr>
            <a:r>
              <a:rPr/>
              <a:t>Missing Entries Found: ✈️ Flight to Vancouver - 2 hrs 🍽️ Working lunch - 1 hr 💬 Client Q&amp;A - 2 hrs ✈️ Return flight - 2 hrs 📝 Workshop prep - 1 hr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Right Side - Results:</a:t>
            </a:r>
          </a:p>
          <a:p>
            <a:pPr lvl="0" indent="0" marL="0">
              <a:buNone/>
            </a:pPr>
            <a:r>
              <a:rPr/>
              <a:t>[SCREENSHOT or LIVE DEMO]</a:t>
            </a:r>
          </a:p>
          <a:p>
            <a:pPr lvl="0" indent="0" marL="0">
              <a:buNone/>
            </a:pPr>
            <a:r>
              <a:rPr/>
              <a:t>Impact: 💰 $2,000 weekly revenue recovered ⚡ 5 seconds analysis time ✅ All entries approved and written 📋 Audit trail complete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“Let me show you this live…” [Run actual demo]. If demo fails, use screenshot and walk through it.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Business Impact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(large numbers)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Measurable Business Impact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 Consultant - Annual:</a:t>
            </a:r>
          </a:p>
          <a:p>
            <a:pPr lvl="0" indent="0" marL="0">
              <a:buNone/>
            </a:pPr>
            <a:r>
              <a:rPr/>
              <a:t>💵 $104,000 revenue recovered ⏰ 12.9 hours saved 📊 ROI: 200,000:1 vs AI cost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Firm-Wide (50 Consultants) - Annual:</a:t>
            </a:r>
          </a:p>
          <a:p>
            <a:pPr lvl="0" indent="0" marL="0">
              <a:buNone/>
            </a:pPr>
            <a:r>
              <a:rPr/>
              <a:t>💰 $2.6M revenue captured 🚀 645 hours saved 💡 $52K total cost (dev + hosting + AI) 📈 ROI: 4,900% in Year 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Bottom - Cost Breakdown:</a:t>
            </a:r>
          </a:p>
          <a:p>
            <a:pPr lvl="0" indent="0" marL="0">
              <a:buNone/>
            </a:pPr>
            <a:r>
              <a:rPr/>
              <a:t>Development: $50K (one-time) Azure Hosting: $1,200/year AI API Calls: $520/year Total: $52K vs $2.6M recovered = 50x return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“These aren’t theoretical numbers. $250/hr billable rate × 8 missing hours/week × 50 consultants. The ROI is undeniable.”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Production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(3 columns)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What Makes It Production-Ready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Column 1 - Approval Workflow:</a:t>
            </a:r>
          </a:p>
          <a:p>
            <a:pPr lvl="0" indent="0" marL="0">
              <a:buNone/>
            </a:pPr>
            <a:r>
              <a:rPr/>
              <a:t>✅ User approval required ✅ Approve/Reject buttons ✅ Rejection reason capture ✅ Confirmation messages ✅ No automatic writes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Column 2 - Audit &amp; Compliance:</a:t>
            </a:r>
          </a:p>
          <a:p>
            <a:pPr lvl="0" indent="0" marL="0">
              <a:buNone/>
            </a:pPr>
            <a:r>
              <a:rPr/>
              <a:t>📋 Complete operation logging 🕐 Timestamp tracking 👤 User attribution 🔒 Immutable trail 📊 Compliance reports ❌ No deletions (add-only)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Column 3 - Deployment:</a:t>
            </a:r>
          </a:p>
          <a:p>
            <a:pPr lvl="0" indent="0" marL="0">
              <a:buNone/>
            </a:pPr>
            <a:r>
              <a:rPr/>
              <a:t>🐳 Docker containerized ☁️ Azure Container Apps 🔧 Automated deployment 📚 Complete documentation 🔐 Azure Key Vault secrets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“Production-ready means more than ‘it works’. It means approval workflows, audit trails, and enterprise deployment.”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10: Technology Stack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(table)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Technical Architecture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Technology Stack Table: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Microsoft Agent 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orchestration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OpenAI GPT-4o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Reasoning engine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 3.13+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Application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 interface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AgentThread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Conversation state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Container Apps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Production hosting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Container Registry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Image storage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Key Vault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Secrets management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Bottom - Key Features:</a:t>
            </a:r>
          </a:p>
          <a:p>
            <a:pPr lvl="0" indent="0" marL="0">
              <a:buNone/>
            </a:pPr>
            <a:r>
              <a:rPr/>
              <a:t>• Production-grade Microsoft framework • Azure OpenAI keeps data in your tenant • One-command deployment • Complete observability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“Built on Microsoft’s production frameworks - not research toys. Enterprise-ready from day one.”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Deployment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(2 columns)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Deployment &amp; System Integration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Left Column - Deployment Options:</a:t>
            </a:r>
          </a:p>
          <a:p>
            <a:pPr lvl="0" indent="0" marL="0">
              <a:buNone/>
            </a:pPr>
            <a:r>
              <a:rPr b="1"/>
              <a:t>Azure Container Apps</a:t>
            </a:r>
            <a:r>
              <a:rPr/>
              <a:t> (Recommended) • Serverless container hosting • Auto-scaling (1-3 replicas) • $50-100/month</a:t>
            </a:r>
          </a:p>
          <a:p>
            <a:pPr lvl="0" indent="0" marL="0">
              <a:buNone/>
            </a:pPr>
            <a:r>
              <a:rPr b="1"/>
              <a:t>Azure App Service</a:t>
            </a:r>
            <a:r>
              <a:rPr/>
              <a:t> • PaaS deployment • Built-in monitoring • $75-150/month</a:t>
            </a:r>
          </a:p>
          <a:p>
            <a:pPr lvl="0" indent="0" marL="0">
              <a:buNone/>
            </a:pPr>
            <a:r>
              <a:rPr b="1"/>
              <a:t>Azure Kubernetes Service</a:t>
            </a:r>
            <a:r>
              <a:rPr/>
              <a:t> • Enterprise-scale • Multi-region • $200-500/month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Right Column - Integration Points:</a:t>
            </a:r>
          </a:p>
          <a:p>
            <a:pPr lvl="0" indent="0" marL="0">
              <a:buNone/>
            </a:pPr>
            <a:r>
              <a:rPr b="1"/>
              <a:t>Microsoft Graph API</a:t>
            </a:r>
            <a:r>
              <a:rPr/>
              <a:t> • Read calendar events • OAuth 2.0 authentication • Azure AD consent</a:t>
            </a:r>
          </a:p>
          <a:p>
            <a:pPr lvl="0" indent="0" marL="0">
              <a:buNone/>
            </a:pPr>
            <a:r>
              <a:rPr b="1"/>
              <a:t>ERP REST APIs</a:t>
            </a:r>
            <a:r>
              <a:rPr/>
              <a:t> • Read/Write timesheet • API authentication • 2-4 weeks integration</a:t>
            </a:r>
          </a:p>
          <a:p>
            <a:pPr lvl="0" indent="0" marL="0">
              <a:buNone/>
            </a:pPr>
            <a:r>
              <a:rPr b="1"/>
              <a:t>Azure AD</a:t>
            </a:r>
            <a:r>
              <a:rPr/>
              <a:t> • Single sign-on (SSO) • Role-based permissions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Bottom - Timeline:</a:t>
            </a:r>
          </a:p>
          <a:p>
            <a:pPr lvl="0" indent="0" marL="0">
              <a:buNone/>
            </a:pPr>
            <a:r>
              <a:rPr/>
              <a:t>Demo Ready: ✅ Today API Integration: 2-4 weeks Pilot: 2 weeks Full Rollout: 6 weeks total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“Deployment is push-button. Integration is the only remaining step - 2-4 weeks for APIs.”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Open Source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Open Source &amp; Resources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GitHub Repository:</a:t>
            </a:r>
          </a:p>
          <a:p>
            <a:pPr lvl="0" indent="0" marL="0">
              <a:buNone/>
            </a:pPr>
            <a:r>
              <a:rPr/>
              <a:t>🔗 github.com/Arturo-Quiroga-MSFT/ttu-agentic-revolution-challenge 📜 License: MIT (Open Source)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What’s Included:</a:t>
            </a:r>
          </a:p>
          <a:p>
            <a:pPr lvl="0" indent="0" marL="0">
              <a:buNone/>
            </a:pPr>
            <a:r>
              <a:rPr/>
              <a:t>✅ Complete source code (all 3 versions) ✅ Deployment scripts (Docker + Azure) ✅ Sample data (calendar + timesheet JSON) ✅ Architecture diagrams (Mermaid) ✅ Comprehensive documentation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Quick Start: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https://github.com/Arturo-Quiroga-MSFT/ttu-agentic-revolution-challenge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ccg-demo-multi-agent-prod</a:t>
            </a:r>
            <a:br/>
            <a:r>
              <a:rPr>
                <a:latin typeface="Courier"/>
              </a:rPr>
              <a:t>pip install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requirements.txt</a:t>
            </a:r>
            <a:br/>
            <a:r>
              <a:rPr>
                <a:latin typeface="Courier"/>
              </a:rPr>
              <a:t>streamlit run multi_agent_streamlit.py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Deploy to Azure:</a:t>
            </a:r>
          </a:p>
          <a:p>
            <a:pPr lvl="0" indent="0">
              <a:buNone/>
            </a:pPr>
            <a:r>
              <a:rPr>
                <a:latin typeface="Courier"/>
              </a:rPr>
              <a:t>./deploy-aca.sh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Resources:</a:t>
            </a:r>
          </a:p>
          <a:p>
            <a:pPr lvl="0" indent="0" marL="0">
              <a:buNone/>
            </a:pPr>
            <a:r>
              <a:rPr/>
              <a:t>📖 Microsoft Agent Framework Docs ☁️ Azure OpenAI Service 🐳 Azure Container Apps 📧 arturo.quiroga@microsoft.com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“Everything is open source - MIT license. You can run this locally in 5 minutes, deploy to Azure in 10.”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(2 columns)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Key Learnings &amp; Best Practices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Left Column - What Works:</a:t>
            </a:r>
          </a:p>
          <a:p>
            <a:pPr lvl="0" indent="0" marL="0">
              <a:buNone/>
            </a:pPr>
            <a:r>
              <a:rPr/>
              <a:t>✅ Multi-Agent &gt; Single-Agent • Specialized agents = better results • Parallel execution = 2x speed • Easier to test and maintain</a:t>
            </a:r>
          </a:p>
          <a:p>
            <a:pPr lvl="0" indent="0" marL="0">
              <a:buNone/>
            </a:pPr>
            <a:r>
              <a:rPr/>
              <a:t>✅ Approval Workflow is Critical • Human-in-the-loop required • Audit trail non-negotiable • User trust requires transparency</a:t>
            </a:r>
          </a:p>
          <a:p>
            <a:pPr lvl="0" indent="0" marL="0">
              <a:buNone/>
            </a:pPr>
            <a:r>
              <a:rPr/>
              <a:t>✅ Function Calling Works • Azure OpenAI reliable • Clear descriptions = better selection • Validate inputs always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Right Column - Architecture Best Practices:</a:t>
            </a:r>
          </a:p>
          <a:p>
            <a:pPr lvl="0" indent="0" marL="0">
              <a:buNone/>
            </a:pPr>
            <a:r>
              <a:rPr b="1"/>
              <a:t>Agent Design:</a:t>
            </a:r>
            <a:r>
              <a:rPr/>
              <a:t> • One responsibility per agent • Clear, detailed instructions • Minimal tools per agent • Testable in isolation</a:t>
            </a:r>
          </a:p>
          <a:p>
            <a:pPr lvl="0" indent="0" marL="0">
              <a:buNone/>
            </a:pPr>
            <a:r>
              <a:rPr b="1"/>
              <a:t>Production Considerations:</a:t>
            </a:r>
            <a:r>
              <a:rPr/>
              <a:t> • Never commit API keys • Use Azure Key Vault • Implement RBAC • Audit all writes • Monitor token usage • Handle errors gracefully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Bottom - Common Pitfalls to Avoid:</a:t>
            </a:r>
          </a:p>
          <a:p>
            <a:pPr lvl="0" indent="0" marL="0">
              <a:buNone/>
            </a:pPr>
            <a:r>
              <a:rPr/>
              <a:t>❌ Don’t make one agent do everything ❌ Don’t skip approval workflows ❌ Don’t ignore audit requirements ❌ Don’t hard-code credentials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“Multi-agent isn’t just faster, it’s fundamentally better. And approval workflows aren’t optional for production.”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Next Steps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(3 boxes)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 Next Steps - Let’s Get Started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Box 1 - For Contoso Consulting Group:</a:t>
            </a:r>
          </a:p>
          <a:p>
            <a:pPr lvl="0" indent="0" marL="0">
              <a:buNone/>
            </a:pPr>
            <a:r>
              <a:rPr b="1"/>
              <a:t>Immediate Actions:</a:t>
            </a:r>
            <a:r>
              <a:rPr/>
              <a:t> 1. ✅ Approve pilot program (5 consultants) 2. 🔧 Begin API integration 3. 👥 Identify pilot participants 4. 📅 Schedule kickoff (Nov 18)</a:t>
            </a:r>
          </a:p>
          <a:p>
            <a:pPr lvl="0" indent="0" marL="0">
              <a:buNone/>
            </a:pPr>
            <a:r>
              <a:rPr b="1"/>
              <a:t>Expected Results:</a:t>
            </a:r>
            <a:r>
              <a:rPr/>
              <a:t> • $10K recovered in 2 weeks • 5 hours saved • 90%+ satisfaction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Box 2 - For Other Organizations:</a:t>
            </a:r>
          </a:p>
          <a:p>
            <a:pPr lvl="0" indent="0" marL="0">
              <a:buNone/>
            </a:pPr>
            <a:r>
              <a:rPr b="1"/>
              <a:t>Get Involved:</a:t>
            </a:r>
            <a:r>
              <a:rPr/>
              <a:t> 1. Clone repository from GitHub 2. Run locally with sample data 3. Test with your workflow 4. Contact for integration help</a:t>
            </a:r>
          </a:p>
          <a:p>
            <a:pPr lvl="0" indent="0" marL="0">
              <a:buNone/>
            </a:pPr>
            <a:r>
              <a:rPr b="1"/>
              <a:t>We Can Help:</a:t>
            </a:r>
            <a:r>
              <a:rPr/>
              <a:t> • Architecture guidance • Integration support • Custom development • Training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Box 3 - Contact &amp; Community:</a:t>
            </a:r>
          </a:p>
          <a:p>
            <a:pPr lvl="0" indent="0" marL="0">
              <a:buNone/>
            </a:pPr>
            <a:r>
              <a:rPr/>
              <a:t>📧 arturo.quiroga@microsoft.com 💼 LinkedIn: Arturo Quiroga 🐙 GitHub: @Arturo-Quiroga-MSFT 🌐 Repository: [full URL]</a:t>
            </a:r>
          </a:p>
          <a:p>
            <a:pPr lvl="0" indent="0" marL="0">
              <a:buNone/>
            </a:pPr>
            <a:r>
              <a:rPr b="1"/>
              <a:t>Join the Community:</a:t>
            </a:r>
            <a:r>
              <a:rPr/>
              <a:t> • Report issues • Suggest features • Submit PRs • Share use cases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Bottom - Final Thought:</a:t>
            </a:r>
          </a:p>
          <a:p>
            <a:pPr lvl="0" indent="0" marL="0">
              <a:buNone/>
            </a:pPr>
            <a:r>
              <a:rPr/>
              <a:t>“This is just the beginning. Agentic AI is transforming business processes. Early adopters will have competitive advantage.”</a:t>
            </a:r>
          </a:p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“We’ve built something production-ready. The code is open. The ROI is clear. Let’s work together to bring this to your organization.”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Layout</a:t>
            </a:r>
            <a:r>
              <a:rPr/>
              <a:t>: Title Slide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Title:</a:t>
            </a:r>
          </a:p>
          <a:p>
            <a:pPr lvl="0" indent="0" marL="0">
              <a:buNone/>
            </a:pPr>
            <a:r>
              <a:rPr/>
              <a:t>Thank You!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Content:</a:t>
            </a:r>
          </a:p>
          <a:p>
            <a:pPr lvl="0" indent="0" marL="0">
              <a:buNone/>
            </a:pPr>
            <a:r>
              <a:rPr/>
              <a:t>Questions?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Bottom:</a:t>
            </a:r>
          </a:p>
          <a:p>
            <a:pPr lvl="0" indent="0" marL="0">
              <a:buNone/>
            </a:pPr>
            <a:r>
              <a:rPr/>
              <a:t>📧 arturo.quiroga@microsoft.com 🔗 github.com/Arturo-Quiroga-MSFT/ttu-agentic-revolution-challenge</a:t>
            </a:r>
          </a:p>
          <a:p>
            <a:pPr lvl="0" indent="0" marL="0">
              <a:buNone/>
            </a:pPr>
            <a:r>
              <a:rPr b="1"/>
              <a:t>Design Note</a:t>
            </a:r>
            <a:r>
              <a:rPr/>
              <a:t>: Use simple, clean design. Include QR code to GitHub repo.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 SLIDES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1: Detailed Cost Breakdown</a:t>
            </a:r>
          </a:p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(table)</a:t>
            </a:r>
          </a:p>
          <a:p>
            <a:pPr lvl="0" indent="0" marL="0">
              <a:buNone/>
            </a:pPr>
            <a:r>
              <a:rPr b="1"/>
              <a:t>Title:</a:t>
            </a:r>
            <a:r>
              <a:rPr/>
              <a:t> Detailed Cost Analysis</a:t>
            </a:r>
          </a:p>
          <a:p>
            <a:pPr lvl="0" indent="0" marL="0">
              <a:buNone/>
            </a:pPr>
            <a:r>
              <a:rPr b="1"/>
              <a:t>Azure Costs (Monthly):</a:t>
            </a:r>
            <a:r>
              <a:rPr/>
              <a:t> • Container Apps: $50-75 • Container Registry: $5 • Azure OpenAI API: $43 • Application Insights: $10 </a:t>
            </a:r>
            <a:r>
              <a:rPr b="1"/>
              <a:t>Total: ~$110/month</a:t>
            </a:r>
          </a:p>
          <a:p>
            <a:pPr lvl="0" indent="0" marL="0">
              <a:buNone/>
            </a:pPr>
            <a:r>
              <a:rPr b="1"/>
              <a:t>Development Costs (One-time):</a:t>
            </a:r>
            <a:r>
              <a:rPr/>
              <a:t> • Initial development: $40K • Testing &amp; QA: $5K • Documentation: $3K • Deployment: $2K </a:t>
            </a:r>
            <a:r>
              <a:rPr b="1"/>
              <a:t>Total: $50K</a:t>
            </a:r>
          </a:p>
          <a:p>
            <a:pPr lvl="0" indent="0" marL="0">
              <a:buNone/>
            </a:pPr>
            <a:r>
              <a:rPr b="1"/>
              <a:t>ROI:</a:t>
            </a:r>
            <a:r>
              <a:rPr/>
              <a:t> • Monthly recovered: $217K • Monthly cost: $110 • Net monthly gain: $216,890 • Payback period: 8 days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2: Security Architecture</a:t>
            </a:r>
          </a:p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(diagram)</a:t>
            </a:r>
          </a:p>
          <a:p>
            <a:pPr lvl="0" indent="0" marL="0">
              <a:buNone/>
            </a:pPr>
            <a:r>
              <a:rPr b="1"/>
              <a:t>Title:</a:t>
            </a:r>
            <a:r>
              <a:rPr/>
              <a:t> Defense in Depth Security</a:t>
            </a:r>
          </a:p>
          <a:p>
            <a:pPr lvl="0" indent="0" marL="0">
              <a:buNone/>
            </a:pPr>
            <a:r>
              <a:rPr b="1"/>
              <a:t>Security Layers:</a:t>
            </a:r>
            <a:r>
              <a:rPr/>
              <a:t> 1. Azure AD Authentication 2. API Key Management (Key Vault) 3. RBAC (Role-Based Access) 4. Approval Workflow 5. Audit Logging 6. Data Validation</a:t>
            </a:r>
          </a:p>
          <a:p>
            <a:pPr lvl="0" indent="0" marL="0">
              <a:buNone/>
            </a:pPr>
            <a:r>
              <a:rPr b="1"/>
              <a:t>Compliance:</a:t>
            </a:r>
            <a:r>
              <a:rPr/>
              <a:t> ✅ GDPR compliant ✅ SOC 2 (Azure inherited) ✅ Complete audit trail ✅ Data residency options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3: Performance Benchmarks</a:t>
            </a:r>
          </a:p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(table)</a:t>
            </a:r>
          </a:p>
          <a:p>
            <a:pPr lvl="0" indent="0" marL="0">
              <a:buNone/>
            </a:pPr>
            <a:r>
              <a:rPr b="1"/>
              <a:t>Title:</a:t>
            </a:r>
            <a:r>
              <a:rPr/>
              <a:t> Performance Comparison</a:t>
            </a:r>
          </a:p>
          <a:p>
            <a:pPr lvl="0" indent="0" marL="0">
              <a:buNone/>
            </a:pPr>
            <a:r>
              <a:rPr b="1"/>
              <a:t>Speed:</a:t>
            </a:r>
            <a:r>
              <a:rPr/>
              <a:t> | Approach | Time | Speedup | |———-|——|———| | Manual review | 15 min | Baseline | | Single agent | 12 sec | 75x | | Multi-agent sequential | 10 sec | 90x | | Multi-agent parallel | 5 sec | 180x |</a:t>
            </a:r>
          </a:p>
          <a:p>
            <a:pPr lvl="0" indent="0" marL="0">
              <a:buNone/>
            </a:pPr>
            <a:r>
              <a:rPr b="1"/>
              <a:t>Accuracy:</a:t>
            </a:r>
            <a:r>
              <a:rPr/>
              <a:t> | Approach | Accuracy | |———-|———-| | Manual | 82.5% | | Rule-based | 80% | | Single agent | 91% | | Multi-agent | 96% |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4: Integration Code Example</a:t>
            </a:r>
          </a:p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(code)</a:t>
            </a:r>
          </a:p>
          <a:p>
            <a:pPr lvl="0" indent="0" marL="0">
              <a:buNone/>
            </a:pPr>
            <a:r>
              <a:rPr b="1"/>
              <a:t>Title:</a:t>
            </a:r>
            <a:r>
              <a:rPr/>
              <a:t> Microsoft Graph Integration Example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microsoft.graph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GraphServiceClient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get_calendar_events(user_email: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client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GraphServiceClient(credentials)</a:t>
            </a:r>
            <a:br/>
            <a:r>
              <a:rPr>
                <a:latin typeface="Courier"/>
              </a:rPr>
              <a:t>    events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client.users.by_user_id(user_email)</a:t>
            </a:r>
            <a:br/>
            <a:r>
              <a:rPr>
                <a:latin typeface="Courier"/>
              </a:rPr>
              <a:t>        .calendar.events.get()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events</a:t>
            </a:r>
          </a:p>
          <a:p>
            <a:pPr lvl="0" indent="0" marL="0">
              <a:buNone/>
            </a:pPr>
            <a:r>
              <a:rPr b="1"/>
              <a:t>Timeline:</a:t>
            </a:r>
            <a:r>
              <a:rPr/>
              <a:t> • Week 1: Azure AD app registration • Week 2: API permissions • Week 3: Integration code • Week 4: Testing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5: Q&amp;A Reference</a:t>
            </a:r>
          </a:p>
          <a:p>
            <a:pPr lvl="0" indent="0" marL="0">
              <a:buNone/>
            </a:pPr>
            <a:r>
              <a:rPr b="1"/>
              <a:t>Layout</a:t>
            </a:r>
            <a:r>
              <a:rPr/>
              <a:t>: Title and Content (2 columns)</a:t>
            </a:r>
          </a:p>
          <a:p>
            <a:pPr lvl="0" indent="0" marL="0">
              <a:buNone/>
            </a:pPr>
            <a:r>
              <a:rPr b="1"/>
              <a:t>Title:</a:t>
            </a:r>
            <a:r>
              <a:rPr/>
              <a:t> Frequently Asked Questions</a:t>
            </a:r>
          </a:p>
          <a:p>
            <a:pPr lvl="0" indent="0" marL="0">
              <a:buNone/>
            </a:pPr>
            <a:r>
              <a:rPr b="1"/>
              <a:t>Technical:</a:t>
            </a:r>
            <a:r>
              <a:rPr/>
              <a:t> Q: How handle false positives? A: User approval workflow</a:t>
            </a:r>
          </a:p>
          <a:p>
            <a:pPr lvl="0" indent="0" marL="0">
              <a:buNone/>
            </a:pPr>
            <a:r>
              <a:rPr/>
              <a:t>Q: Data privacy? A: Azure OpenAI stays in tenant</a:t>
            </a:r>
          </a:p>
          <a:p>
            <a:pPr lvl="0" indent="0" marL="0">
              <a:buNone/>
            </a:pPr>
            <a:r>
              <a:rPr/>
              <a:t>Q: Integration timeline? A: 2-4 weeks for APIs</a:t>
            </a:r>
          </a:p>
          <a:p>
            <a:pPr lvl="0" indent="0" marL="0">
              <a:buNone/>
            </a:pPr>
            <a:r>
              <a:rPr b="1"/>
              <a:t>Business:</a:t>
            </a:r>
            <a:r>
              <a:rPr/>
              <a:t> Q: ROI timeline? A: Payback in first month</a:t>
            </a:r>
          </a:p>
          <a:p>
            <a:pPr lvl="0" indent="0" marL="0">
              <a:buNone/>
            </a:pPr>
            <a:r>
              <a:rPr/>
              <a:t>Q: Running costs? A: ~$150/month</a:t>
            </a:r>
          </a:p>
          <a:p>
            <a:pPr lvl="0" indent="0" marL="0">
              <a:buNone/>
            </a:pPr>
            <a:r>
              <a:rPr/>
              <a:t>Q: Adoption strategy? A: Start with 5-person pilot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PRESENTATION DELIVERY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Timing Guide:</a:t>
            </a:r>
          </a:p>
          <a:p>
            <a:pPr lvl="0" indent="0" marL="0">
              <a:buNone/>
            </a:pPr>
            <a:r>
              <a:rPr b="1"/>
              <a:t>5-Minute Version:</a:t>
            </a:r>
            <a:r>
              <a:rPr/>
              <a:t> Slides 1, 2, 3, 4, 7, 8, 14 </a:t>
            </a:r>
            <a:r>
              <a:rPr b="1"/>
              <a:t>10-Minute Version:</a:t>
            </a:r>
            <a:r>
              <a:rPr/>
              <a:t> Slides 1-5, 7, 8, 9, 11, 14 </a:t>
            </a:r>
            <a:r>
              <a:rPr b="1"/>
              <a:t>15-Minute Version:</a:t>
            </a:r>
            <a:r>
              <a:rPr/>
              <a:t> All main slides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Demo Backup:</a:t>
            </a:r>
          </a:p>
          <a:p>
            <a:pPr lvl="0"/>
            <a:r>
              <a:rPr/>
              <a:t>Have screenshots ready</a:t>
            </a:r>
          </a:p>
          <a:p>
            <a:pPr lvl="0"/>
            <a:r>
              <a:rPr/>
              <a:t>Pre-record 2-minute video</a:t>
            </a:r>
          </a:p>
          <a:p>
            <a:pPr lvl="0"/>
            <a:r>
              <a:rPr/>
              <a:t>GIF animations for key interactions</a:t>
            </a:r>
          </a:p>
          <a:p>
            <a:pPr lvl="0"/>
            <a:r>
              <a:rPr/>
              <a:t>Can walk through code if needed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Messages:</a:t>
            </a:r>
          </a:p>
          <a:p>
            <a:pPr lvl="0" indent="-342900" marL="342900">
              <a:buAutoNum type="arabicPeriod"/>
            </a:pPr>
            <a:r>
              <a:rPr/>
              <a:t>Production-ready, not just a demo</a:t>
            </a:r>
          </a:p>
          <a:p>
            <a:pPr lvl="0" indent="-342900" marL="342900">
              <a:buAutoNum type="arabicPeriod"/>
            </a:pPr>
            <a:r>
              <a:rPr/>
              <a:t>Multi-agent is fundamentally better</a:t>
            </a:r>
          </a:p>
          <a:p>
            <a:pPr lvl="0" indent="-342900" marL="342900">
              <a:buAutoNum type="arabicPeriod"/>
            </a:pPr>
            <a:r>
              <a:rPr/>
              <a:t>$2.6M ROI vs $52K cost</a:t>
            </a:r>
          </a:p>
          <a:p>
            <a:pPr lvl="0" indent="-342900" marL="342900">
              <a:buAutoNum type="arabicPeriod"/>
            </a:pPr>
            <a:r>
              <a:rPr/>
              <a:t>Open source, anyone can use</a:t>
            </a:r>
          </a:p>
          <a:p>
            <a:pPr lvl="0" indent="-342900" marL="342900">
              <a:buAutoNum type="arabicPeriod"/>
            </a:pPr>
            <a:r>
              <a:rPr/>
              <a:t>Microsoft stack throughout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Audience Engagement:</a:t>
            </a:r>
          </a:p>
          <a:p>
            <a:pPr lvl="0"/>
            <a:r>
              <a:rPr/>
              <a:t>Ask about their lost billable time</a:t>
            </a:r>
          </a:p>
          <a:p>
            <a:pPr lvl="0"/>
            <a:r>
              <a:rPr/>
              <a:t>Poll on percentage of time lost</a:t>
            </a:r>
          </a:p>
          <a:p>
            <a:pPr lvl="0"/>
            <a:r>
              <a:rPr/>
              <a:t>Interactive: “What process needs this?”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Color Scheme:</a:t>
            </a:r>
          </a:p>
          <a:p>
            <a:pPr lvl="0"/>
            <a:r>
              <a:rPr/>
              <a:t>Primary: Azure Blue (#0078D4)</a:t>
            </a:r>
          </a:p>
          <a:p>
            <a:pPr lvl="0"/>
            <a:r>
              <a:rPr/>
              <a:t>Secondary: White, Light Gray</a:t>
            </a:r>
          </a:p>
          <a:p>
            <a:pPr lvl="0"/>
            <a:r>
              <a:rPr/>
              <a:t>Accent: Green (for success), Red (for problems)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Fonts:</a:t>
            </a:r>
          </a:p>
          <a:p>
            <a:pPr lvl="0"/>
            <a:r>
              <a:rPr/>
              <a:t>Headings: Segoe UI Bold</a:t>
            </a:r>
          </a:p>
          <a:p>
            <a:pPr lvl="0"/>
            <a:r>
              <a:rPr/>
              <a:t>Body: Segoe UI Regular</a:t>
            </a:r>
          </a:p>
          <a:p>
            <a:pPr lvl="0"/>
            <a:r>
              <a:rPr/>
              <a:t>Code: Consolas or Courier New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Images Needed:</a:t>
            </a:r>
          </a:p>
          <a:p>
            <a:pPr lvl="0" indent="-342900" marL="342900">
              <a:buAutoNum type="arabicPeriod"/>
            </a:pPr>
            <a:r>
              <a:rPr/>
              <a:t>Consultant working (frustrated) - Slide 2</a:t>
            </a:r>
          </a:p>
          <a:p>
            <a:pPr lvl="0" indent="-342900" marL="342900">
              <a:buAutoNum type="arabicPeriod"/>
            </a:pPr>
            <a:r>
              <a:rPr/>
              <a:t>Architecture diagram - Slide 4</a:t>
            </a:r>
          </a:p>
          <a:p>
            <a:pPr lvl="0" indent="-342900" marL="342900">
              <a:buAutoNum type="arabicPeriod"/>
            </a:pPr>
            <a:r>
              <a:rPr/>
              <a:t>Workflow diagram - Slide 6</a:t>
            </a:r>
          </a:p>
          <a:p>
            <a:pPr lvl="0" indent="-342900" marL="342900">
              <a:buAutoNum type="arabicPeriod"/>
            </a:pPr>
            <a:r>
              <a:rPr/>
              <a:t>Demo screenshot - Slide 7</a:t>
            </a:r>
          </a:p>
          <a:p>
            <a:pPr lvl="0" indent="-342900" marL="342900">
              <a:buAutoNum type="arabicPeriod"/>
            </a:pPr>
            <a:r>
              <a:rPr/>
              <a:t>QR code to GitHub - Slide 15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Icons to Use:</a:t>
            </a:r>
          </a:p>
          <a:p>
            <a:pPr lvl="0"/>
            <a:r>
              <a:rPr/>
              <a:t>🤖 AI/Agent</a:t>
            </a:r>
          </a:p>
          <a:p>
            <a:pPr lvl="0"/>
            <a:r>
              <a:rPr/>
              <a:t>💰 Money/Revenue</a:t>
            </a:r>
          </a:p>
          <a:p>
            <a:pPr lvl="0"/>
            <a:r>
              <a:rPr/>
              <a:t>⏱️ Time</a:t>
            </a:r>
          </a:p>
          <a:p>
            <a:pPr lvl="0"/>
            <a:r>
              <a:rPr/>
              <a:t>✅ Success/Approval</a:t>
            </a:r>
          </a:p>
          <a:p>
            <a:pPr lvl="0"/>
            <a:r>
              <a:rPr/>
              <a:t>📋 Audit/Compliance</a:t>
            </a:r>
          </a:p>
          <a:p>
            <a:pPr lvl="0"/>
            <a:r>
              <a:rPr/>
              <a:t>🚀 Deployment</a:t>
            </a:r>
          </a:p>
          <a:p>
            <a:pPr lvl="0"/>
            <a:r>
              <a:rPr/>
              <a:t>📊 Analytics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END OF SLIDE-BY-SLIDE GUIDE</a:t>
            </a:r>
          </a:p>
          <a:p>
            <a:pPr lvl="0" indent="0" marL="0">
              <a:buNone/>
            </a:pPr>
            <a:r>
              <a:rPr b="1"/>
              <a:t>Instructions for PowerPoint Creation:</a:t>
            </a:r>
            <a:r>
              <a:rPr/>
              <a:t> 1. Open PowerPoint 2. Choose a professional template (Azure/Microsoft themed) 3. Create slides following this guide 4. Copy-paste content from each section 5. Add diagrams from diagrams/ folder 6. Add screenshots from demo 7. Apply consistent formatting 8. Add presenter notes 9. Test transitions and timing 10. Export as PPTX</a:t>
            </a:r>
          </a:p>
          <a:p>
            <a:pPr lvl="0" indent="0" marL="0">
              <a:buNone/>
            </a:pPr>
            <a:r>
              <a:rPr b="1"/>
              <a:t>Estimated Time to Build:</a:t>
            </a:r>
            <a:r>
              <a:rPr/>
              <a:t> 60-90 minutes for complete deck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2025-11-02T14:14:19Z</dcterms:created>
  <dcterms:modified xsi:type="dcterms:W3CDTF">2025-11-02T14:14:19Z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