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1"/>
    <p:restoredTop sz="97013"/>
  </p:normalViewPr>
  <p:slideViewPr>
    <p:cSldViewPr snapToGrid="0" snapToObjects="1">
      <p:cViewPr varScale="1">
        <p:scale>
          <a:sx n="118" d="100"/>
          <a:sy n="118" d="100"/>
        </p:scale>
        <p:origin x="208" y="10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98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slide - set the stage for production-ready AI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relatable question: "How many of you forget to log travel time?" Emphasize this is real money being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"Each phase built on the previous. We didn't just build a demo - we built a production system."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Notice the Orchestrator at top coordinates 5 specialized agents. Calendar and Timesheet agents run in parallel - that's why it's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agent is like a specialist on your team. The Approval Agent is production-only - it's the gatekeeper for all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Notice steps 4-6 are new in production. User approval required before any write. Everything is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"Let me show you this live..." [Run actual demo]. If demo fails, use screenshot and walk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aren't theoretical numbers. $250/hr billable rate × 8 missing hours/week × 50 consultants. The ROI is undeniable.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Production-ready means more than 'it works'. It means approval workflows, audit trails, and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Built on Microsoft's production frameworks - not research toys. Enterprise-ready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Deployment is push-button. Integration is the only remaining step - 2-4 weeks for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is open source - MIT license. You can run this locally in 5 minutes, deploy to Azure in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Multi-agent isn't just faster, it's fundamentally better. And approval workflows aren't optional for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We've built something production-ready. The code is open. The ROI is clear. Let's work together to bring this to your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People Discussing">
            <a:extLst>
              <a:ext uri="{FF2B5EF4-FFF2-40B4-BE49-F238E27FC236}">
                <a16:creationId xmlns:a16="http://schemas.microsoft.com/office/drawing/2014/main" id="{73656312-7DBB-0730-FAF0-2F4901FD04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284" r="-1" b="-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6" y="643467"/>
            <a:ext cx="7483497" cy="2435635"/>
          </a:xfrm>
        </p:spPr>
        <p:txBody>
          <a:bodyPr anchor="t">
            <a:normAutofit/>
          </a:bodyPr>
          <a:lstStyle/>
          <a:p>
            <a:pPr algn="l">
              <a:defRPr sz="4000" b="1">
                <a:solidFill>
                  <a:srgbClr val="0078D4"/>
                </a:solidFill>
              </a:defRPr>
            </a:pPr>
            <a:r>
              <a:rPr lang="en-CA" sz="4800" dirty="0">
                <a:solidFill>
                  <a:srgbClr val="FFFFFF"/>
                </a:solidFill>
              </a:rPr>
              <a:t>Contoso Consulting Group</a:t>
            </a:r>
          </a:p>
          <a:p>
            <a:pPr algn="l"/>
            <a:r>
              <a:rPr lang="en-CA" sz="4800" dirty="0">
                <a:solidFill>
                  <a:srgbClr val="FFFFFF"/>
                </a:solidFill>
              </a:rPr>
              <a:t>Multi-Agent Timesheet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996" y="3617976"/>
            <a:ext cx="5449479" cy="1578054"/>
          </a:xfrm>
        </p:spPr>
        <p:txBody>
          <a:bodyPr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CA" sz="1600" dirty="0">
                <a:solidFill>
                  <a:srgbClr val="FFFFFF"/>
                </a:solidFill>
              </a:rPr>
              <a:t>Production-Ready Agentic AI with Microsoft Agent Framework</a:t>
            </a:r>
          </a:p>
          <a:p>
            <a:pPr algn="l">
              <a:lnSpc>
                <a:spcPct val="90000"/>
              </a:lnSpc>
            </a:pPr>
            <a:endParaRPr lang="en-CA" sz="16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CA" sz="1600" dirty="0">
                <a:solidFill>
                  <a:srgbClr val="FFFFFF"/>
                </a:solidFill>
              </a:rPr>
              <a:t>Arturo Quiroga</a:t>
            </a:r>
          </a:p>
          <a:p>
            <a:pPr algn="l">
              <a:lnSpc>
                <a:spcPct val="90000"/>
              </a:lnSpc>
            </a:pPr>
            <a:r>
              <a:rPr lang="en-CA" sz="1600" dirty="0">
                <a:solidFill>
                  <a:srgbClr val="FFFFFF"/>
                </a:solidFill>
              </a:rPr>
              <a:t>Cloud Solution Architect - Data &amp; AI, Microsoft</a:t>
            </a:r>
          </a:p>
          <a:p>
            <a:pPr algn="l">
              <a:lnSpc>
                <a:spcPct val="90000"/>
              </a:lnSpc>
            </a:pPr>
            <a:endParaRPr lang="en-CA" sz="16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CA" sz="1600" dirty="0">
                <a:solidFill>
                  <a:srgbClr val="FFFFFF"/>
                </a:solidFill>
              </a:rPr>
              <a:t>TTU Agentic Revolution Challenge</a:t>
            </a:r>
          </a:p>
          <a:p>
            <a:pPr algn="l">
              <a:lnSpc>
                <a:spcPct val="90000"/>
              </a:lnSpc>
            </a:pPr>
            <a:r>
              <a:rPr lang="en-CA" sz="1600" dirty="0">
                <a:solidFill>
                  <a:srgbClr val="FFFFFF"/>
                </a:solidFill>
              </a:rPr>
              <a:t>November 14,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544046"/>
            <a:ext cx="41148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Lost Revenue:</a:t>
            </a:r>
          </a:p>
          <a:p>
            <a:pPr>
              <a:defRPr sz="1400"/>
            </a:pPr>
            <a:r>
              <a:rPr sz="1400" dirty="0"/>
              <a:t>• Consultants lose 10-15% of billable time annually</a:t>
            </a:r>
          </a:p>
          <a:p>
            <a:pPr>
              <a:defRPr sz="1400"/>
            </a:pPr>
            <a:r>
              <a:rPr sz="1400" dirty="0"/>
              <a:t>• Travel time most commonly missed</a:t>
            </a:r>
          </a:p>
          <a:p>
            <a:pPr>
              <a:defRPr sz="1400"/>
            </a:pPr>
            <a:r>
              <a:rPr sz="1400" dirty="0"/>
              <a:t>• Client meetings forgotten in timesheets</a:t>
            </a:r>
          </a:p>
          <a:p>
            <a:pPr>
              <a:defRPr sz="1400"/>
            </a:pPr>
            <a:r>
              <a:rPr sz="1400" dirty="0"/>
              <a:t>• Manual reconciliation wastes 15-20 min/week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0" y="1547344"/>
            <a:ext cx="41148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Business Impact:</a:t>
            </a:r>
          </a:p>
          <a:p>
            <a:pPr>
              <a:defRPr sz="1600"/>
            </a:pPr>
            <a:r>
              <a:rPr sz="1600" dirty="0"/>
              <a:t>💰 $1,000/week lost per consultant</a:t>
            </a:r>
          </a:p>
          <a:p>
            <a:pPr>
              <a:defRPr sz="1600"/>
            </a:pPr>
            <a:r>
              <a:rPr sz="1600" dirty="0"/>
              <a:t>⏱️ 15-20 minutes/week wasted</a:t>
            </a:r>
          </a:p>
          <a:p>
            <a:pPr>
              <a:defRPr sz="1600"/>
            </a:pPr>
            <a:r>
              <a:rPr sz="1600" dirty="0"/>
              <a:t>⚠️ Compliance risks</a:t>
            </a:r>
          </a:p>
          <a:p>
            <a:pPr>
              <a:defRPr sz="1600"/>
            </a:pPr>
            <a:r>
              <a:rPr sz="1600" dirty="0"/>
              <a:t>📉 Billing inconsistencies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4371" y="6469397"/>
            <a:ext cx="82205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rPr sz="1400" dirty="0"/>
              <a:t>Our Solution: Three-phase evolution: Single-Agent Demo → Multi-Agent Development → Production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9A099-8C00-B093-ADF9-74DA720A1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0" y="2901561"/>
            <a:ext cx="52832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Phases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4772" y="3429000"/>
            <a:ext cx="2743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/>
            </a:pPr>
            <a:r>
              <a:rPr sz="1600" dirty="0"/>
              <a:t>🤖 Proof of Concept</a:t>
            </a:r>
          </a:p>
          <a:p>
            <a:pPr>
              <a:defRPr sz="1200"/>
            </a:pPr>
            <a:r>
              <a:rPr sz="1200" dirty="0"/>
              <a:t>• Microsoft Agent Framework</a:t>
            </a:r>
          </a:p>
          <a:p>
            <a:pPr>
              <a:defRPr sz="1200"/>
            </a:pPr>
            <a:r>
              <a:rPr sz="1200" dirty="0"/>
              <a:t>• Basic calendar + timesheet analysis</a:t>
            </a:r>
          </a:p>
          <a:p>
            <a:pPr>
              <a:defRPr sz="1200"/>
            </a:pPr>
            <a:r>
              <a:rPr sz="1200" dirty="0"/>
              <a:t>• Read-only suggestions</a:t>
            </a:r>
          </a:p>
          <a:p>
            <a:pPr>
              <a:defRPr sz="1200"/>
            </a:pPr>
            <a:r>
              <a:rPr sz="1200" dirty="0"/>
              <a:t>• Status: ✅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07280" y="1645920"/>
            <a:ext cx="2743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/>
            </a:pPr>
            <a:r>
              <a:rPr sz="1600" dirty="0"/>
              <a:t>🔷 Specialized Architecture</a:t>
            </a:r>
          </a:p>
          <a:p>
            <a:pPr>
              <a:defRPr sz="1200"/>
            </a:pPr>
            <a:r>
              <a:rPr sz="1200" dirty="0"/>
              <a:t>• 4 specialized agents</a:t>
            </a:r>
          </a:p>
          <a:p>
            <a:pPr>
              <a:defRPr sz="1200"/>
            </a:pPr>
            <a:r>
              <a:rPr sz="1200" dirty="0"/>
              <a:t>• Parallel execution (2x faster)</a:t>
            </a:r>
          </a:p>
          <a:p>
            <a:pPr>
              <a:defRPr sz="1200"/>
            </a:pPr>
            <a:r>
              <a:rPr sz="1200" dirty="0"/>
              <a:t>• Domain expertise</a:t>
            </a:r>
          </a:p>
          <a:p>
            <a:pPr>
              <a:defRPr sz="1200"/>
            </a:pPr>
            <a:r>
              <a:rPr sz="1200" dirty="0"/>
              <a:t>• Status: ✅ Performance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7131" y="2705725"/>
            <a:ext cx="27432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/>
            </a:pPr>
            <a:r>
              <a:rPr sz="1600" dirty="0"/>
              <a:t>🚀 Enterprise Ready</a:t>
            </a:r>
          </a:p>
          <a:p>
            <a:pPr>
              <a:defRPr sz="1200"/>
            </a:pPr>
            <a:r>
              <a:rPr sz="1200" dirty="0"/>
              <a:t>• 5 agents (+ Approval)</a:t>
            </a:r>
          </a:p>
          <a:p>
            <a:pPr>
              <a:defRPr sz="1200"/>
            </a:pPr>
            <a:r>
              <a:rPr sz="1200" dirty="0"/>
              <a:t>• Write capabilities</a:t>
            </a:r>
          </a:p>
          <a:p>
            <a:pPr>
              <a:defRPr sz="1200"/>
            </a:pPr>
            <a:r>
              <a:rPr sz="1200" dirty="0"/>
              <a:t>• Complete audit trail</a:t>
            </a:r>
          </a:p>
          <a:p>
            <a:pPr>
              <a:defRPr sz="1200"/>
            </a:pPr>
            <a:r>
              <a:rPr sz="1200" dirty="0"/>
              <a:t>• Azure deployment</a:t>
            </a:r>
          </a:p>
          <a:p>
            <a:pPr>
              <a:defRPr sz="1200"/>
            </a:pPr>
            <a:r>
              <a:rPr sz="1200" dirty="0"/>
              <a:t>• Status: ✅ Production Ready</a:t>
            </a:r>
          </a:p>
        </p:txBody>
      </p:sp>
      <p:pic>
        <p:nvPicPr>
          <p:cNvPr id="8" name="Picture 7" descr="A person with headphones and a digital screen&#10;&#10;AI-generated content may be incorrect.">
            <a:extLst>
              <a:ext uri="{FF2B5EF4-FFF2-40B4-BE49-F238E27FC236}">
                <a16:creationId xmlns:a16="http://schemas.microsoft.com/office/drawing/2014/main" id="{613894CB-B362-A27F-7D59-B435D5A04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657" y="2907804"/>
            <a:ext cx="3744686" cy="37446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Architecture -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1828800"/>
            <a:ext cx="7315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rPr sz="1400"/>
              <a:t>[INSERT DIAGRAM: Architecture diagram showing Orchestrator coordinating 5 agents]</a:t>
            </a:r>
            <a:br>
              <a:rPr sz="1400"/>
            </a:br>
            <a:br>
              <a:rPr sz="1400"/>
            </a:br>
            <a:r>
              <a:rPr sz="1400"/>
              <a:t>Refer to: diagrams/architecture.md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389120"/>
            <a:ext cx="8229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sz="1600"/>
              <a:t>Key Benefits:</a:t>
            </a:r>
          </a:p>
          <a:p>
            <a:pPr>
              <a:defRPr sz="1200"/>
            </a:pPr>
            <a:r>
              <a:rPr sz="1200"/>
              <a:t>• ⚡ Parallel Execution: 2x faster than sequential</a:t>
            </a:r>
          </a:p>
          <a:p>
            <a:pPr>
              <a:defRPr sz="1200"/>
            </a:pPr>
            <a:r>
              <a:rPr sz="1200"/>
              <a:t>• 🎯 Specialized Expertise: Each agent masters one domain</a:t>
            </a:r>
          </a:p>
          <a:p>
            <a:pPr>
              <a:defRPr sz="1200"/>
            </a:pPr>
            <a:r>
              <a:rPr sz="1200"/>
              <a:t>• 📈 Scalable: Add agents without breaking system</a:t>
            </a:r>
          </a:p>
          <a:p>
            <a:pPr>
              <a:defRPr sz="1200"/>
            </a:pPr>
            <a:r>
              <a:rPr sz="1200"/>
              <a:t>• ✅ Approval Workflow: User controls all writes</a:t>
            </a:r>
          </a:p>
          <a:p>
            <a:pPr>
              <a:defRPr sz="1200"/>
            </a:pPr>
            <a:r>
              <a:rPr sz="1200"/>
              <a:t>• 📋 Audit Trail: 100%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Specialization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1645921"/>
            <a:ext cx="55819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sz="1200"/>
              <a:t>📅 Calendar Agent  |  Expert in: Calendar event analysis  |  Tool: get_calendar_events()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377441"/>
            <a:ext cx="56348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sz="1200"/>
              <a:t>📝 Timesheet Agent  |  Expert in: Timesheet validation  |  Tool: get_timesheet_entries()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1" y="3108961"/>
            <a:ext cx="62392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sz="1200"/>
              <a:t>💡 Suggestion Agent  |  Expert in: Recommendation synthesis  |  Tool: suggest_timesheet_entry()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3840481"/>
            <a:ext cx="57951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rPr sz="1200"/>
              <a:t>✅ Approval Agent ⭐  |  Expert in: Approval workflow  |  Tool: add_timesheet_entry()...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4572001"/>
            <a:ext cx="54585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sz="1200"/>
              <a:t>💰 Revenue Agent  |  Expert in: Financial impact  |  Tool: calculate_revenue_impact()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Production Workflow - From Analysis to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8341" y="1828800"/>
            <a:ext cx="373531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rPr sz="1400"/>
              <a:t>[INSERT DIAGRAM: Workflow sequence diagram]</a:t>
            </a:r>
            <a:br>
              <a:rPr sz="1400"/>
            </a:br>
            <a:br>
              <a:rPr sz="1400"/>
            </a:br>
            <a:r>
              <a:rPr sz="1400"/>
              <a:t>Refer to: diagrams/workflow.md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840480"/>
            <a:ext cx="375455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rPr sz="1600"/>
              <a:t>Workflow Steps:</a:t>
            </a:r>
          </a:p>
          <a:p>
            <a:pPr>
              <a:defRPr sz="1200"/>
            </a:pPr>
            <a:r>
              <a:rPr sz="1200"/>
              <a:t>1. Analysis Phase: Calendar + Timesheet agents (parallel)</a:t>
            </a:r>
          </a:p>
          <a:p>
            <a:pPr>
              <a:defRPr sz="1200"/>
            </a:pPr>
            <a:r>
              <a:rPr sz="1200"/>
              <a:t>2. Synthesis Phase: Suggestion agent proposes entries</a:t>
            </a:r>
          </a:p>
          <a:p>
            <a:pPr>
              <a:defRPr sz="1200"/>
            </a:pPr>
            <a:r>
              <a:rPr sz="1200"/>
              <a:t>3. Review Phase: User sees suggestions with rationale</a:t>
            </a:r>
          </a:p>
          <a:p>
            <a:pPr>
              <a:defRPr sz="1200">
                <a:solidFill>
                  <a:srgbClr val="0078D4"/>
                </a:solidFill>
              </a:defRPr>
            </a:pPr>
            <a:r>
              <a:rPr sz="1200"/>
              <a:t>4. Approval Phase: User approves or rejects ⭐</a:t>
            </a:r>
          </a:p>
          <a:p>
            <a:pPr>
              <a:defRPr sz="1200">
                <a:solidFill>
                  <a:srgbClr val="0078D4"/>
                </a:solidFill>
              </a:defRPr>
            </a:pPr>
            <a:r>
              <a:rPr sz="1200"/>
              <a:t>5. Write Phase: Approved entries written to timesheet ⭐</a:t>
            </a:r>
          </a:p>
          <a:p>
            <a:pPr>
              <a:defRPr sz="1200">
                <a:solidFill>
                  <a:srgbClr val="0078D4"/>
                </a:solidFill>
              </a:defRPr>
            </a:pPr>
            <a:r>
              <a:rPr sz="1200"/>
              <a:t>6. Audit Phase: All actions logged for compliance 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645921"/>
            <a:ext cx="41148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Demo Scenario</a:t>
            </a:r>
          </a:p>
          <a:p>
            <a:pPr>
              <a:defRPr sz="1200"/>
            </a:pPr>
            <a:r>
              <a:rPr sz="1200"/>
              <a:t>User: Sarah Johnson, Senior Consultant</a:t>
            </a:r>
            <a:br>
              <a:rPr sz="1200"/>
            </a:br>
            <a:r>
              <a:rPr sz="1200"/>
              <a:t>Period: November 13-14, 2025</a:t>
            </a:r>
            <a:br>
              <a:rPr sz="1200"/>
            </a:br>
            <a:br>
              <a:rPr sz="1200"/>
            </a:br>
            <a:r>
              <a:rPr sz="1200"/>
              <a:t>Data:</a:t>
            </a:r>
            <a:br>
              <a:rPr sz="1200"/>
            </a:br>
            <a:r>
              <a:rPr sz="1200"/>
              <a:t>• 7 calendar events</a:t>
            </a:r>
            <a:br>
              <a:rPr sz="1200"/>
            </a:br>
            <a:r>
              <a:rPr sz="1200"/>
              <a:t>• 2 timesheet entries (3.5 hours)</a:t>
            </a:r>
            <a:br>
              <a:rPr sz="1200"/>
            </a:br>
            <a:r>
              <a:rPr sz="1200"/>
              <a:t>• 5 events missing (8 hours unbilled)</a:t>
            </a:r>
            <a:br>
              <a:rPr sz="1200"/>
            </a:br>
            <a:br>
              <a:rPr sz="1200"/>
            </a:br>
            <a:r>
              <a:rPr sz="1200"/>
              <a:t>Missing Entries Found:</a:t>
            </a:r>
            <a:br>
              <a:rPr sz="1200"/>
            </a:br>
            <a:r>
              <a:rPr sz="1200"/>
              <a:t>✈️ Flight to Vancouver - 2 hrs</a:t>
            </a:r>
            <a:br>
              <a:rPr sz="1200"/>
            </a:br>
            <a:r>
              <a:rPr sz="1200"/>
              <a:t>🍽️ Working lunch - 1 hr</a:t>
            </a:r>
            <a:br>
              <a:rPr sz="1200"/>
            </a:br>
            <a:r>
              <a:rPr sz="1200"/>
              <a:t>💬 Client Q&amp;A - 2 hrs</a:t>
            </a:r>
            <a:br>
              <a:rPr sz="1200"/>
            </a:br>
            <a:r>
              <a:rPr sz="1200"/>
              <a:t>✈️ Return flight - 2 hrs</a:t>
            </a:r>
            <a:br>
              <a:rPr sz="1200"/>
            </a:br>
            <a:r>
              <a:rPr sz="1200"/>
              <a:t>📝 Workshop prep - 1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0" y="1645921"/>
            <a:ext cx="41148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rPr sz="1400"/>
              <a:t>[SCREENSHOT or LIVE DEMO]</a:t>
            </a:r>
          </a:p>
          <a:p>
            <a:br/>
            <a:r>
              <a:t>Impact:</a:t>
            </a:r>
          </a:p>
          <a:p>
            <a:pPr>
              <a:defRPr sz="1400"/>
            </a:pPr>
            <a:r>
              <a:rPr sz="1400"/>
              <a:t>💰 $2,000 weekly revenue recovered</a:t>
            </a:r>
          </a:p>
          <a:p>
            <a:pPr>
              <a:defRPr sz="1400"/>
            </a:pPr>
            <a:r>
              <a:rPr sz="1400"/>
              <a:t>⚡ 5 seconds analysis time</a:t>
            </a:r>
          </a:p>
          <a:p>
            <a:pPr>
              <a:defRPr sz="1400"/>
            </a:pPr>
            <a:r>
              <a:rPr sz="1400"/>
              <a:t>✅ All entries approved and written</a:t>
            </a:r>
          </a:p>
          <a:p>
            <a:pPr>
              <a:defRPr sz="1400"/>
            </a:pPr>
            <a:r>
              <a:rPr sz="1400"/>
              <a:t>📋 Audit trail complete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Measurable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1" y="1828801"/>
            <a:ext cx="735169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Per Consultant - Annual:</a:t>
            </a:r>
          </a:p>
          <a:p>
            <a:pPr>
              <a:defRPr sz="1600"/>
            </a:pPr>
            <a:r>
              <a:rPr sz="1600"/>
              <a:t>💵 $104,000 revenue recovered  |  ⏰ 12.9 hours saved  |  📊 ROI: 200,000:1 vs AI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1" y="3200401"/>
            <a:ext cx="667843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Firm-Wide (50 Consultants) - Annual:</a:t>
            </a:r>
          </a:p>
          <a:p>
            <a:pPr>
              <a:defRPr sz="1600"/>
            </a:pPr>
            <a:r>
              <a:rPr sz="1600"/>
              <a:t>💰 $2.6M revenue captured  |  🚀 645 hours saved  |  📈 ROI: 4,900% in 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4754881"/>
            <a:ext cx="6564618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rPr sz="1600"/>
              <a:t>Cost Breakdown:</a:t>
            </a:r>
          </a:p>
          <a:p>
            <a:pPr>
              <a:defRPr sz="1400"/>
            </a:pPr>
            <a:r>
              <a:rPr sz="1400"/>
              <a:t>Development: $50K (one-time)  |  Azure Hosting: $1,200/year  |  AI API Calls: $520/year</a:t>
            </a:r>
          </a:p>
          <a:p>
            <a:pPr>
              <a:defRPr sz="1600" b="1">
                <a:solidFill>
                  <a:srgbClr val="107C10"/>
                </a:solidFill>
              </a:defRPr>
            </a:pPr>
            <a:r>
              <a:rPr sz="1600"/>
              <a:t>Total: $52K vs $2.6M recovered = 50x return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t>What Makes It Production-Ready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645920"/>
            <a:ext cx="2560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rPr sz="2000" dirty="0"/>
              <a:t>Approval Workflow</a:t>
            </a:r>
          </a:p>
          <a:p>
            <a:pPr>
              <a:defRPr sz="1100"/>
            </a:pPr>
            <a:r>
              <a:rPr sz="1400" dirty="0"/>
              <a:t>✅ User approval required</a:t>
            </a:r>
          </a:p>
          <a:p>
            <a:pPr>
              <a:defRPr sz="1100"/>
            </a:pPr>
            <a:r>
              <a:rPr sz="1400" dirty="0"/>
              <a:t>✅ Approve/Reject buttons</a:t>
            </a:r>
          </a:p>
          <a:p>
            <a:pPr>
              <a:defRPr sz="1100"/>
            </a:pPr>
            <a:r>
              <a:rPr sz="1400" dirty="0"/>
              <a:t>✅ Rejection reason capture</a:t>
            </a:r>
          </a:p>
          <a:p>
            <a:pPr>
              <a:defRPr sz="1100"/>
            </a:pPr>
            <a:r>
              <a:rPr sz="1400" dirty="0"/>
              <a:t>✅ Confirmation messages</a:t>
            </a:r>
          </a:p>
          <a:p>
            <a:pPr>
              <a:defRPr sz="1100"/>
            </a:pPr>
            <a:r>
              <a:rPr sz="1400" dirty="0"/>
              <a:t>✅ No automatic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07280" y="1645921"/>
            <a:ext cx="25603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rPr sz="2000" dirty="0"/>
              <a:t>Audit &amp; Compliance</a:t>
            </a:r>
          </a:p>
          <a:p>
            <a:pPr>
              <a:defRPr sz="1100"/>
            </a:pPr>
            <a:r>
              <a:rPr sz="1400" dirty="0"/>
              <a:t>📋 Complete operation logging</a:t>
            </a:r>
          </a:p>
          <a:p>
            <a:pPr>
              <a:defRPr sz="1100"/>
            </a:pPr>
            <a:r>
              <a:rPr sz="1400" dirty="0"/>
              <a:t>🕐 Timestamp tracking</a:t>
            </a:r>
          </a:p>
          <a:p>
            <a:pPr>
              <a:defRPr sz="1100"/>
            </a:pPr>
            <a:r>
              <a:rPr sz="1400" dirty="0"/>
              <a:t>👤 User attribution</a:t>
            </a:r>
          </a:p>
          <a:p>
            <a:pPr>
              <a:defRPr sz="1100"/>
            </a:pPr>
            <a:r>
              <a:rPr sz="1400" dirty="0"/>
              <a:t>🔒 Immutable trail</a:t>
            </a:r>
          </a:p>
          <a:p>
            <a:pPr>
              <a:defRPr sz="1100"/>
            </a:pPr>
            <a:r>
              <a:rPr sz="1400" dirty="0"/>
              <a:t>📊 Compliance reports</a:t>
            </a:r>
          </a:p>
          <a:p>
            <a:pPr>
              <a:defRPr sz="1100"/>
            </a:pPr>
            <a:r>
              <a:rPr sz="1400" dirty="0"/>
              <a:t>❌ No deletions (add-only)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3360" y="1645920"/>
            <a:ext cx="2560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rPr sz="2000" dirty="0"/>
              <a:t>Deployment</a:t>
            </a:r>
          </a:p>
          <a:p>
            <a:pPr>
              <a:defRPr sz="1100"/>
            </a:pPr>
            <a:r>
              <a:rPr sz="1400" dirty="0"/>
              <a:t>🐳 Docker containerized</a:t>
            </a:r>
          </a:p>
          <a:p>
            <a:pPr>
              <a:defRPr sz="1100"/>
            </a:pPr>
            <a:r>
              <a:rPr sz="1400" dirty="0"/>
              <a:t>☁️ Azure Container Apps</a:t>
            </a:r>
          </a:p>
          <a:p>
            <a:pPr>
              <a:defRPr sz="1100"/>
            </a:pPr>
            <a:r>
              <a:rPr sz="1400" dirty="0"/>
              <a:t>🔧 Automated deployment</a:t>
            </a:r>
          </a:p>
          <a:p>
            <a:pPr>
              <a:defRPr sz="1100"/>
            </a:pPr>
            <a:r>
              <a:rPr sz="1400" dirty="0"/>
              <a:t>📚 Complete documentation</a:t>
            </a:r>
          </a:p>
          <a:p>
            <a:pPr>
              <a:defRPr sz="1100"/>
            </a:pPr>
            <a:r>
              <a:rPr sz="1400" dirty="0"/>
              <a:t>🔐 Azure Key Vault secrets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1828800"/>
            <a:ext cx="73152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sz="2400" dirty="0"/>
              <a:t>Technology Stack:</a:t>
            </a:r>
          </a:p>
          <a:p>
            <a:pPr>
              <a:defRPr sz="1200"/>
            </a:pPr>
            <a:r>
              <a:rPr sz="1600" dirty="0"/>
              <a:t>Framework: Microsoft Agent Framework - Agent orchestration</a:t>
            </a:r>
          </a:p>
          <a:p>
            <a:pPr>
              <a:defRPr sz="1200"/>
            </a:pPr>
            <a:r>
              <a:rPr sz="1600" dirty="0"/>
              <a:t>AI Model: Azure OpenAI GPT-4</a:t>
            </a:r>
            <a:r>
              <a:rPr lang="en-CA" sz="1600" dirty="0"/>
              <a:t>.1/GPT-5-mini</a:t>
            </a:r>
            <a:r>
              <a:rPr sz="1600" dirty="0"/>
              <a:t> - Reasoning engine</a:t>
            </a:r>
          </a:p>
          <a:p>
            <a:pPr>
              <a:defRPr sz="1200"/>
            </a:pPr>
            <a:r>
              <a:rPr sz="1600" dirty="0"/>
              <a:t>Language: Python 3.13+ - Application code</a:t>
            </a:r>
          </a:p>
          <a:p>
            <a:pPr>
              <a:defRPr sz="1200"/>
            </a:pPr>
            <a:r>
              <a:rPr sz="1600" dirty="0"/>
              <a:t>UI: </a:t>
            </a:r>
            <a:r>
              <a:rPr sz="1600" dirty="0" err="1"/>
              <a:t>Streamlit</a:t>
            </a:r>
            <a:r>
              <a:rPr sz="1600" dirty="0"/>
              <a:t> - Web interface</a:t>
            </a:r>
          </a:p>
          <a:p>
            <a:pPr>
              <a:defRPr sz="1200"/>
            </a:pPr>
            <a:r>
              <a:rPr sz="1600" dirty="0"/>
              <a:t>Memory: </a:t>
            </a:r>
            <a:r>
              <a:rPr sz="1600" dirty="0" err="1"/>
              <a:t>AgentThread</a:t>
            </a:r>
            <a:r>
              <a:rPr sz="1600" dirty="0"/>
              <a:t> - Conversation state</a:t>
            </a:r>
          </a:p>
          <a:p>
            <a:pPr>
              <a:defRPr sz="1200"/>
            </a:pPr>
            <a:r>
              <a:rPr sz="1600" dirty="0"/>
              <a:t>Deployment: Azure Container Apps - Production hosting</a:t>
            </a:r>
          </a:p>
          <a:p>
            <a:pPr>
              <a:defRPr sz="1200"/>
            </a:pPr>
            <a:r>
              <a:rPr sz="1600" dirty="0"/>
              <a:t>Registry: Azure Container Registry - Image storage</a:t>
            </a:r>
          </a:p>
          <a:p>
            <a:pPr>
              <a:defRPr sz="1200"/>
            </a:pPr>
            <a:r>
              <a:rPr sz="1600" dirty="0"/>
              <a:t>Security: Azure Key Vault - Secrets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4754881"/>
            <a:ext cx="91326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sz="1200"/>
              <a:t>• Production-grade Microsoft framework  • Azure OpenAI keeps data in your tenant  • One-command deployment  • Complete observability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645921"/>
            <a:ext cx="4114800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sz="1600"/>
              <a:t>Deployment Options:</a:t>
            </a:r>
          </a:p>
          <a:p>
            <a:pPr>
              <a:spcAft>
                <a:spcPts val="1000"/>
              </a:spcAft>
              <a:defRPr sz="1100"/>
            </a:pPr>
            <a:r>
              <a:rPr sz="1100"/>
              <a:t>Azure Container Apps (Recommended)</a:t>
            </a:r>
            <a:br>
              <a:rPr sz="1100"/>
            </a:br>
            <a:r>
              <a:rPr sz="1100"/>
              <a:t>$50-100/month - Serverless, auto-scaling</a:t>
            </a:r>
          </a:p>
          <a:p>
            <a:pPr>
              <a:spcAft>
                <a:spcPts val="1000"/>
              </a:spcAft>
              <a:defRPr sz="1100"/>
            </a:pPr>
            <a:r>
              <a:rPr sz="1100"/>
              <a:t>Azure App Service</a:t>
            </a:r>
            <a:br>
              <a:rPr sz="1100"/>
            </a:br>
            <a:r>
              <a:rPr sz="1100"/>
              <a:t>$75-150/month - PaaS, built-in monitoring</a:t>
            </a:r>
          </a:p>
          <a:p>
            <a:pPr>
              <a:spcAft>
                <a:spcPts val="1000"/>
              </a:spcAft>
              <a:defRPr sz="1100"/>
            </a:pPr>
            <a:r>
              <a:rPr sz="1100"/>
              <a:t>Azure Kubernetes Service</a:t>
            </a:r>
            <a:br>
              <a:rPr sz="1100"/>
            </a:br>
            <a:r>
              <a:rPr sz="1100"/>
              <a:t>$200-500/month - Enterprise-scale, multi-region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0" y="1645921"/>
            <a:ext cx="4114800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sz="1600"/>
              <a:t>Integration Points:</a:t>
            </a:r>
          </a:p>
          <a:p>
            <a:pPr>
              <a:spcAft>
                <a:spcPts val="1000"/>
              </a:spcAft>
              <a:defRPr sz="1100"/>
            </a:pPr>
            <a:r>
              <a:rPr sz="1100"/>
              <a:t>Microsoft Graph API</a:t>
            </a:r>
            <a:br>
              <a:rPr sz="1100"/>
            </a:br>
            <a:r>
              <a:rPr sz="1100"/>
              <a:t>Calendar events, OAuth 2.0</a:t>
            </a:r>
          </a:p>
          <a:p>
            <a:pPr>
              <a:spcAft>
                <a:spcPts val="1000"/>
              </a:spcAft>
              <a:defRPr sz="1100"/>
            </a:pPr>
            <a:r>
              <a:rPr sz="1100"/>
              <a:t>ERP REST APIs</a:t>
            </a:r>
            <a:br>
              <a:rPr sz="1100"/>
            </a:br>
            <a:r>
              <a:rPr sz="1100"/>
              <a:t>Timesheet read/write, 2-4 weeks</a:t>
            </a:r>
          </a:p>
          <a:p>
            <a:pPr>
              <a:spcAft>
                <a:spcPts val="1000"/>
              </a:spcAft>
              <a:defRPr sz="1100"/>
            </a:pPr>
            <a:r>
              <a:rPr sz="1100"/>
              <a:t>Azure AD</a:t>
            </a:r>
            <a:br>
              <a:rPr sz="1100"/>
            </a:br>
            <a:r>
              <a:rPr sz="1100"/>
              <a:t>SSO, RBAC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5029201"/>
            <a:ext cx="71689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sz="1200"/>
              <a:t>Timeline:  Demo Ready: ✅ Today  |  API Integration: 2-4 weeks  |  Pilot: 2 weeks  |  Full Rollout: 6 weeks total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Source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9551" y="1828800"/>
            <a:ext cx="821404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rPr dirty="0"/>
              <a:t>🔗 GitHub Repository:</a:t>
            </a:r>
          </a:p>
          <a:p>
            <a:pPr>
              <a:defRPr sz="1400"/>
            </a:pPr>
            <a:r>
              <a:rPr sz="1400" dirty="0" err="1"/>
              <a:t>github.com</a:t>
            </a:r>
            <a:r>
              <a:rPr sz="1400" dirty="0"/>
              <a:t>/Arturo-Quiroga-MSFT/</a:t>
            </a:r>
            <a:r>
              <a:rPr sz="1400" dirty="0" err="1"/>
              <a:t>ttu</a:t>
            </a:r>
            <a:r>
              <a:rPr sz="1400" dirty="0"/>
              <a:t>-agentic-revolution-challenge</a:t>
            </a:r>
          </a:p>
          <a:p>
            <a:br>
              <a:rPr dirty="0"/>
            </a:br>
            <a:r>
              <a:rPr dirty="0"/>
              <a:t>What's Included:</a:t>
            </a:r>
          </a:p>
          <a:p>
            <a:pPr>
              <a:defRPr sz="1200"/>
            </a:pPr>
            <a:r>
              <a:rPr sz="1200" dirty="0"/>
              <a:t>✅ Complete source code (all 3 versions)</a:t>
            </a:r>
          </a:p>
          <a:p>
            <a:pPr>
              <a:defRPr sz="1200"/>
            </a:pPr>
            <a:r>
              <a:rPr sz="1200" dirty="0"/>
              <a:t>✅ Deployment scripts (Docker + Azure)</a:t>
            </a:r>
          </a:p>
          <a:p>
            <a:pPr>
              <a:defRPr sz="1200"/>
            </a:pPr>
            <a:r>
              <a:rPr sz="1200" dirty="0"/>
              <a:t>✅ Sample data (calendar + timesheet JSON)</a:t>
            </a:r>
          </a:p>
          <a:p>
            <a:pPr>
              <a:defRPr sz="1200"/>
            </a:pPr>
            <a:r>
              <a:rPr sz="1200" dirty="0"/>
              <a:t>✅ Architecture diagrams (Mermaid)</a:t>
            </a:r>
          </a:p>
          <a:p>
            <a:pPr>
              <a:defRPr sz="1200"/>
            </a:pPr>
            <a:r>
              <a:rPr sz="1200" dirty="0"/>
              <a:t>✅ Comprehensive documentation</a:t>
            </a:r>
          </a:p>
          <a:p>
            <a:br>
              <a:rPr dirty="0"/>
            </a:br>
            <a:r>
              <a:rPr dirty="0"/>
              <a:t>Quick Start: git clone → pip install → </a:t>
            </a:r>
            <a:r>
              <a:rPr dirty="0" err="1"/>
              <a:t>streamlit</a:t>
            </a:r>
            <a:r>
              <a:rPr dirty="0"/>
              <a:t> run</a:t>
            </a:r>
          </a:p>
          <a:p>
            <a:pPr>
              <a:defRPr sz="1400" b="1"/>
            </a:pPr>
            <a:r>
              <a:rPr sz="1400" dirty="0"/>
              <a:t>Deploy to Azure: ./deploy-</a:t>
            </a:r>
            <a:r>
              <a:rPr sz="1400" dirty="0" err="1"/>
              <a:t>aca.sh</a:t>
            </a:r>
            <a:endParaRPr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645920"/>
            <a:ext cx="41148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7C10"/>
                </a:solidFill>
              </a:defRPr>
            </a:pPr>
            <a:r>
              <a:rPr sz="1600"/>
              <a:t>What Works:</a:t>
            </a:r>
          </a:p>
          <a:p>
            <a:pPr>
              <a:defRPr sz="1100"/>
            </a:pPr>
            <a:r>
              <a:rPr sz="1100"/>
              <a:t>✅ Multi-Agent &gt; Single-Agent</a:t>
            </a:r>
          </a:p>
          <a:p>
            <a:pPr>
              <a:defRPr sz="1100"/>
            </a:pPr>
            <a:r>
              <a:rPr sz="1100"/>
              <a:t>   • Specialized agents = better results</a:t>
            </a:r>
          </a:p>
          <a:p>
            <a:pPr>
              <a:defRPr sz="1100"/>
            </a:pPr>
            <a:r>
              <a:rPr sz="1100"/>
              <a:t>   • Parallel execution = 2x speed</a:t>
            </a:r>
          </a:p>
          <a:p>
            <a:pPr>
              <a:defRPr sz="1100"/>
            </a:pPr>
            <a:r>
              <a:rPr sz="1100"/>
              <a:t>✅ Approval Workflow is Critical</a:t>
            </a:r>
          </a:p>
          <a:p>
            <a:pPr>
              <a:defRPr sz="1100"/>
            </a:pPr>
            <a:r>
              <a:rPr sz="1100"/>
              <a:t>   • Human-in-the-loop required</a:t>
            </a:r>
          </a:p>
          <a:p>
            <a:pPr>
              <a:defRPr sz="1100"/>
            </a:pPr>
            <a:r>
              <a:rPr sz="1100"/>
              <a:t>   • Audit trail non-negotiable</a:t>
            </a:r>
          </a:p>
          <a:p>
            <a:pPr>
              <a:defRPr sz="1100"/>
            </a:pPr>
            <a:r>
              <a:rPr sz="1100"/>
              <a:t>✅ Function Calling Works</a:t>
            </a:r>
          </a:p>
          <a:p>
            <a:pPr>
              <a:defRPr sz="1100"/>
            </a:pPr>
            <a:r>
              <a:rPr sz="1100"/>
              <a:t>   • Azure OpenAI reliable</a:t>
            </a:r>
          </a:p>
          <a:p>
            <a:pPr>
              <a:defRPr sz="1100"/>
            </a:pPr>
            <a:r>
              <a:rPr sz="1100"/>
              <a:t>   • Clear descriptions = better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0" y="1645921"/>
            <a:ext cx="411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rPr sz="1600"/>
              <a:t>Architecture Best Practices:</a:t>
            </a:r>
          </a:p>
          <a:p>
            <a:pPr>
              <a:defRPr sz="1100"/>
            </a:pPr>
            <a:r>
              <a:rPr sz="1100"/>
              <a:t>Agent Design:</a:t>
            </a:r>
          </a:p>
          <a:p>
            <a:pPr>
              <a:defRPr sz="1100"/>
            </a:pPr>
            <a:r>
              <a:rPr sz="1100"/>
              <a:t>• One responsibility per agent</a:t>
            </a:r>
          </a:p>
          <a:p>
            <a:pPr>
              <a:defRPr sz="1100"/>
            </a:pPr>
            <a:r>
              <a:rPr sz="1100"/>
              <a:t>• Clear, detailed instructions</a:t>
            </a:r>
          </a:p>
          <a:p>
            <a:pPr>
              <a:defRPr sz="1100"/>
            </a:pPr>
            <a:r>
              <a:rPr sz="1100"/>
              <a:t>• Minimal tools per agent</a:t>
            </a:r>
          </a:p>
          <a:p>
            <a:pPr>
              <a:defRPr sz="1100"/>
            </a:pPr>
            <a:endParaRPr sz="1100"/>
          </a:p>
          <a:p>
            <a:pPr>
              <a:defRPr sz="1100"/>
            </a:pPr>
            <a:r>
              <a:rPr sz="1100"/>
              <a:t>Production Considerations:</a:t>
            </a:r>
          </a:p>
          <a:p>
            <a:pPr>
              <a:defRPr sz="1100"/>
            </a:pPr>
            <a:r>
              <a:rPr sz="1100"/>
              <a:t>• Never commit API keys</a:t>
            </a:r>
          </a:p>
          <a:p>
            <a:pPr>
              <a:defRPr sz="1100"/>
            </a:pPr>
            <a:r>
              <a:rPr sz="1100"/>
              <a:t>• Use Azure Key Vault</a:t>
            </a:r>
          </a:p>
          <a:p>
            <a:pPr>
              <a:defRPr sz="1100"/>
            </a:pPr>
            <a:r>
              <a:rPr sz="1100"/>
              <a:t>• Implement RBAC</a:t>
            </a:r>
          </a:p>
          <a:p>
            <a:pPr>
              <a:defRPr sz="1100"/>
            </a:pPr>
            <a:r>
              <a:rPr sz="1100"/>
              <a:t>• Audit all writes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1" y="5029200"/>
            <a:ext cx="72731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4314B"/>
                </a:solidFill>
              </a:defRPr>
            </a:pPr>
            <a:r>
              <a:rPr sz="1100"/>
              <a:t>❌ Common Pitfalls: Don't make one agent do everything | Don't skip approval workflows | Don't ignore audit requirements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- Let's 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645921"/>
            <a:ext cx="256032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8D4"/>
                </a:solidFill>
              </a:defRPr>
            </a:pPr>
            <a:r>
              <a:rPr sz="1300"/>
              <a:t>For Contoso Consulting Group</a:t>
            </a:r>
          </a:p>
          <a:p>
            <a:pPr>
              <a:defRPr sz="1000"/>
            </a:pPr>
            <a:r>
              <a:rPr sz="1000"/>
              <a:t>Immediate Actions:</a:t>
            </a:r>
          </a:p>
          <a:p>
            <a:pPr>
              <a:defRPr sz="1000"/>
            </a:pPr>
            <a:r>
              <a:rPr sz="1000"/>
              <a:t>1. ✅ Approve pilot (5 consultants)</a:t>
            </a:r>
          </a:p>
          <a:p>
            <a:pPr>
              <a:defRPr sz="1000"/>
            </a:pPr>
            <a:r>
              <a:rPr sz="1000"/>
              <a:t>2. 🔧 Begin API integration</a:t>
            </a:r>
          </a:p>
          <a:p>
            <a:pPr>
              <a:defRPr sz="1000"/>
            </a:pPr>
            <a:r>
              <a:rPr sz="1000"/>
              <a:t>3. 👥 Identify participants</a:t>
            </a:r>
          </a:p>
          <a:p>
            <a:pPr>
              <a:defRPr sz="1000"/>
            </a:pPr>
            <a:r>
              <a:rPr sz="1000"/>
              <a:t>4. 📅 Schedule kickoff (Nov 18)</a:t>
            </a:r>
          </a:p>
          <a:p>
            <a:pPr>
              <a:defRPr sz="1000"/>
            </a:pPr>
            <a:endParaRPr sz="1000"/>
          </a:p>
          <a:p>
            <a:pPr>
              <a:defRPr sz="1000"/>
            </a:pPr>
            <a:r>
              <a:rPr sz="1000"/>
              <a:t>Expected Results:</a:t>
            </a:r>
          </a:p>
          <a:p>
            <a:pPr>
              <a:defRPr sz="1000"/>
            </a:pPr>
            <a:r>
              <a:rPr sz="1000"/>
              <a:t>• $10K recovered in 2 weeks</a:t>
            </a:r>
          </a:p>
          <a:p>
            <a:pPr>
              <a:defRPr sz="1000"/>
            </a:pPr>
            <a:r>
              <a:rPr sz="1000"/>
              <a:t>• 5 hours saved</a:t>
            </a:r>
          </a:p>
          <a:p>
            <a:pPr>
              <a:defRPr sz="1000"/>
            </a:pPr>
            <a:r>
              <a:rPr sz="1000"/>
              <a:t>• 90%+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07280" y="1645921"/>
            <a:ext cx="256032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8D4"/>
                </a:solidFill>
              </a:defRPr>
            </a:pPr>
            <a:r>
              <a:rPr sz="1300"/>
              <a:t>For Other Organizations</a:t>
            </a:r>
          </a:p>
          <a:p>
            <a:pPr>
              <a:defRPr sz="1000"/>
            </a:pPr>
            <a:r>
              <a:rPr sz="1000"/>
              <a:t>Get Involved:</a:t>
            </a:r>
          </a:p>
          <a:p>
            <a:pPr>
              <a:defRPr sz="1000"/>
            </a:pPr>
            <a:r>
              <a:rPr sz="1000"/>
              <a:t>1. Clone repository</a:t>
            </a:r>
          </a:p>
          <a:p>
            <a:pPr>
              <a:defRPr sz="1000"/>
            </a:pPr>
            <a:r>
              <a:rPr sz="1000"/>
              <a:t>2. Run locally with sample data</a:t>
            </a:r>
          </a:p>
          <a:p>
            <a:pPr>
              <a:defRPr sz="1000"/>
            </a:pPr>
            <a:r>
              <a:rPr sz="1000"/>
              <a:t>3. Test with your workflow</a:t>
            </a:r>
          </a:p>
          <a:p>
            <a:pPr>
              <a:defRPr sz="1000"/>
            </a:pPr>
            <a:r>
              <a:rPr sz="1000"/>
              <a:t>4. Contact for integration help</a:t>
            </a:r>
          </a:p>
          <a:p>
            <a:pPr>
              <a:defRPr sz="1000"/>
            </a:pPr>
            <a:endParaRPr sz="1000"/>
          </a:p>
          <a:p>
            <a:pPr>
              <a:defRPr sz="1000"/>
            </a:pPr>
            <a:r>
              <a:rPr sz="1000"/>
              <a:t>We Can Help:</a:t>
            </a:r>
          </a:p>
          <a:p>
            <a:pPr>
              <a:defRPr sz="1000"/>
            </a:pPr>
            <a:r>
              <a:rPr sz="1000"/>
              <a:t>• Architecture guidance</a:t>
            </a:r>
          </a:p>
          <a:p>
            <a:pPr>
              <a:defRPr sz="1000"/>
            </a:pPr>
            <a:r>
              <a:rPr sz="1000"/>
              <a:t>• Integration support</a:t>
            </a:r>
          </a:p>
          <a:p>
            <a:pPr>
              <a:defRPr sz="1000"/>
            </a:pPr>
            <a:r>
              <a:rPr sz="1000"/>
              <a:t>• Custom development</a:t>
            </a:r>
          </a:p>
          <a:p>
            <a:pPr>
              <a:defRPr sz="1000"/>
            </a:pPr>
            <a:r>
              <a:rPr sz="1000"/>
              <a:t>•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3360" y="1645920"/>
            <a:ext cx="256032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8D4"/>
                </a:solidFill>
              </a:defRPr>
            </a:pPr>
            <a:r>
              <a:rPr sz="1300"/>
              <a:t>Contact &amp; Community</a:t>
            </a:r>
          </a:p>
          <a:p>
            <a:pPr>
              <a:defRPr sz="1000"/>
            </a:pPr>
            <a:r>
              <a:rPr sz="1000"/>
              <a:t>📧 arturo.quiroga@microsoft.com</a:t>
            </a:r>
          </a:p>
          <a:p>
            <a:pPr>
              <a:defRPr sz="1000"/>
            </a:pPr>
            <a:r>
              <a:rPr sz="1000"/>
              <a:t>💼 LinkedIn: Arturo Quiroga</a:t>
            </a:r>
          </a:p>
          <a:p>
            <a:pPr>
              <a:defRPr sz="1000"/>
            </a:pPr>
            <a:r>
              <a:rPr sz="1000"/>
              <a:t>🐙 GitHub: @Arturo-Quiroga-MSFT</a:t>
            </a:r>
          </a:p>
          <a:p>
            <a:pPr>
              <a:defRPr sz="1000"/>
            </a:pPr>
            <a:endParaRPr sz="1000"/>
          </a:p>
          <a:p>
            <a:pPr>
              <a:defRPr sz="1000"/>
            </a:pPr>
            <a:r>
              <a:rPr sz="1000"/>
              <a:t>Join the Community:</a:t>
            </a:r>
          </a:p>
          <a:p>
            <a:pPr>
              <a:defRPr sz="1000"/>
            </a:pPr>
            <a:r>
              <a:rPr sz="1000"/>
              <a:t>• Report issues</a:t>
            </a:r>
          </a:p>
          <a:p>
            <a:pPr>
              <a:defRPr sz="1000"/>
            </a:pPr>
            <a:r>
              <a:rPr sz="1000"/>
              <a:t>• Suggest features</a:t>
            </a:r>
          </a:p>
          <a:p>
            <a:pPr>
              <a:defRPr sz="1000"/>
            </a:pPr>
            <a:r>
              <a:rPr sz="1000"/>
              <a:t>• Submit PRs</a:t>
            </a:r>
          </a:p>
          <a:p>
            <a:pPr>
              <a:defRPr sz="1000"/>
            </a:pPr>
            <a:r>
              <a:rPr sz="1000"/>
              <a:t>• Share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7913" y="5303521"/>
            <a:ext cx="80361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 i="1"/>
            </a:pPr>
            <a:r>
              <a:rPr sz="1200"/>
              <a:t>"This is just the beginning. Agentic AI is transforming business processes. Early adopters will have competitive advantage."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7878" y="1828800"/>
            <a:ext cx="337624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8D4"/>
                </a:solidFill>
              </a:defRPr>
            </a:pPr>
            <a:r>
              <a:rPr sz="5400"/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6906" y="3200401"/>
            <a:ext cx="22781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rPr sz="3600"/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2908" y="4572000"/>
            <a:ext cx="526618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sz="1600"/>
              <a:t>📧 arturo.quiroga@microsoft.com</a:t>
            </a:r>
          </a:p>
          <a:p>
            <a:pPr algn="ctr">
              <a:defRPr sz="1400"/>
            </a:pPr>
            <a:r>
              <a:rPr sz="1400"/>
              <a:t>🔗 github.com/Arturo-Quiroga-MSFT/ttu-agentic-revolution-challenge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152</TotalTime>
  <Words>1573</Words>
  <Application>Microsoft Macintosh PowerPoint</Application>
  <PresentationFormat>Widescreen</PresentationFormat>
  <Paragraphs>206</Paragraphs>
  <Slides>15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Contoso Consulting Group Multi-Agent Timesheet Assistant</vt:lpstr>
      <vt:lpstr>The Business Problem</vt:lpstr>
      <vt:lpstr>Three Phases of Innovation</vt:lpstr>
      <vt:lpstr>Multi-Agent Architecture - How It Works</vt:lpstr>
      <vt:lpstr>Agent Specialization &amp; Roles</vt:lpstr>
      <vt:lpstr>Production Workflow - From Analysis to Approval</vt:lpstr>
      <vt:lpstr>Live Demonstration</vt:lpstr>
      <vt:lpstr>Measurable Business Impact</vt:lpstr>
      <vt:lpstr>What Makes It Production-Ready</vt:lpstr>
      <vt:lpstr>Technical Architecture</vt:lpstr>
      <vt:lpstr>Deployment &amp; System Integration</vt:lpstr>
      <vt:lpstr>Open Source &amp; Resources</vt:lpstr>
      <vt:lpstr>Key Learnings &amp; Best Practices</vt:lpstr>
      <vt:lpstr>Next Steps - Let's Get Started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Arturo Quiroga</cp:lastModifiedBy>
  <cp:revision>6</cp:revision>
  <dcterms:created xsi:type="dcterms:W3CDTF">2013-01-27T09:14:16Z</dcterms:created>
  <dcterms:modified xsi:type="dcterms:W3CDTF">2025-11-02T16:56:11Z</dcterms:modified>
  <cp:category/>
</cp:coreProperties>
</file>