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70" r:id="rId3"/>
    <p:sldId id="262" r:id="rId4"/>
    <p:sldId id="260" r:id="rId5"/>
    <p:sldId id="261" r:id="rId6"/>
    <p:sldId id="263" r:id="rId7"/>
    <p:sldId id="264" r:id="rId8"/>
    <p:sldId id="265" r:id="rId9"/>
    <p:sldId id="266" r:id="rId10"/>
    <p:sldId id="269" r:id="rId11"/>
    <p:sldId id="267" r:id="rId12"/>
    <p:sldId id="26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F26F20B-C463-0349-B3F4-28E85F07C8D9}">
          <p14:sldIdLst>
            <p14:sldId id="256"/>
            <p14:sldId id="270"/>
          </p14:sldIdLst>
        </p14:section>
        <p14:section name="SINGLE AGENT SOLUTION" id="{4D64E129-12EB-1547-992A-4FFB90BB2CA9}">
          <p14:sldIdLst>
            <p14:sldId id="262"/>
            <p14:sldId id="260"/>
            <p14:sldId id="261"/>
          </p14:sldIdLst>
        </p14:section>
        <p14:section name="MULTI-AGENT SOLUTION - DEV" id="{C5241651-0464-AA44-A89A-AD0B10E3611B}">
          <p14:sldIdLst>
            <p14:sldId id="263"/>
            <p14:sldId id="264"/>
            <p14:sldId id="265"/>
          </p14:sldIdLst>
        </p14:section>
        <p14:section name="MULTI-AGENT SOLUTION - PROD" id="{0E45B361-04AA-1A48-B097-4896808315A4}">
          <p14:sldIdLst>
            <p14:sldId id="266"/>
            <p14:sldId id="269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88"/>
    <p:restoredTop sz="94718"/>
  </p:normalViewPr>
  <p:slideViewPr>
    <p:cSldViewPr snapToGrid="0" snapToObjects="1">
      <p:cViewPr varScale="1">
        <p:scale>
          <a:sx n="124" d="100"/>
          <a:sy n="124" d="100"/>
        </p:scale>
        <p:origin x="864" y="480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B0EADF-4EBE-F34E-AAFC-2786A2E235DE}" type="datetimeFigureOut">
              <a:rPr lang="en-US" smtClean="0"/>
              <a:t>11/1/25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053980-04C6-514C-B838-6C1CBA4B85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444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053980-04C6-514C-B838-6C1CBA4B85F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3665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t>Contoso Consulting Group — Intelligent Time &amp; Expense Assistant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Context-aware missing-time detection | Team </a:t>
            </a:r>
            <a:r>
              <a:rPr lang="en-CA" dirty="0"/>
              <a:t>Awesome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762BD4-A24D-7C5A-14F3-CAEDEF326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372634"/>
          </a:xfrm>
        </p:spPr>
        <p:txBody>
          <a:bodyPr>
            <a:normAutofit fontScale="90000"/>
          </a:bodyPr>
          <a:lstStyle/>
          <a:p>
            <a:r>
              <a:rPr lang="en-CA" dirty="0">
                <a:latin typeface="Segoe UI" panose="020B0502040204020203" pitchFamily="34" charset="0"/>
                <a:cs typeface="Segoe UI" panose="020B0502040204020203" pitchFamily="34" charset="0"/>
              </a:rPr>
              <a:t>Contoso Consulting Group — Multi-Agent Timesheet Assistant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ECBA5B-299F-0691-A77B-44DEFCE5A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pPr marL="0" indent="0">
              <a:buNone/>
            </a:pPr>
            <a:br>
              <a:rPr lang="en-CA" sz="5600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endParaRPr lang="en-CA" sz="56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CA" sz="5600" b="1" dirty="0">
                <a:latin typeface="Segoe UI" panose="020B0502040204020203" pitchFamily="34" charset="0"/>
                <a:cs typeface="Segoe UI" panose="020B0502040204020203" pitchFamily="34" charset="0"/>
              </a:rPr>
              <a:t>### 🎯 The Problem</a:t>
            </a:r>
            <a:endParaRPr lang="en-CA" sz="56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br>
              <a:rPr lang="en-CA" sz="5600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endParaRPr lang="en-CA" sz="56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CA" sz="5600" b="1" dirty="0">
                <a:latin typeface="Segoe UI" panose="020B0502040204020203" pitchFamily="34" charset="0"/>
                <a:cs typeface="Segoe UI" panose="020B0502040204020203" pitchFamily="34" charset="0"/>
              </a:rPr>
              <a:t>**Lost Revenue**</a:t>
            </a:r>
            <a:r>
              <a:rPr lang="en-CA" sz="5600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pPr marL="0" indent="0">
              <a:buNone/>
            </a:pPr>
            <a:r>
              <a:rPr lang="en-CA" sz="5600" dirty="0">
                <a:latin typeface="Segoe UI" panose="020B0502040204020203" pitchFamily="34" charset="0"/>
                <a:cs typeface="Segoe UI" panose="020B0502040204020203" pitchFamily="34" charset="0"/>
              </a:rPr>
              <a:t>- 💸 Consultants lose </a:t>
            </a:r>
            <a:r>
              <a:rPr lang="en-CA" sz="5600" b="1" dirty="0">
                <a:latin typeface="Segoe UI" panose="020B0502040204020203" pitchFamily="34" charset="0"/>
                <a:cs typeface="Segoe UI" panose="020B0502040204020203" pitchFamily="34" charset="0"/>
              </a:rPr>
              <a:t>**10-15% of billable time**</a:t>
            </a:r>
            <a:r>
              <a:rPr lang="en-CA" sz="5600" dirty="0">
                <a:latin typeface="Segoe UI" panose="020B0502040204020203" pitchFamily="34" charset="0"/>
                <a:cs typeface="Segoe UI" panose="020B0502040204020203" pitchFamily="34" charset="0"/>
              </a:rPr>
              <a:t> annually</a:t>
            </a:r>
          </a:p>
          <a:p>
            <a:pPr marL="0" indent="0">
              <a:buNone/>
            </a:pPr>
            <a:r>
              <a:rPr lang="en-CA" sz="5600" dirty="0">
                <a:latin typeface="Segoe UI" panose="020B0502040204020203" pitchFamily="34" charset="0"/>
                <a:cs typeface="Segoe UI" panose="020B0502040204020203" pitchFamily="34" charset="0"/>
              </a:rPr>
              <a:t>- ✈️ Travel time </a:t>
            </a:r>
            <a:r>
              <a:rPr lang="en-CA" sz="5600" b="1" dirty="0">
                <a:latin typeface="Segoe UI" panose="020B0502040204020203" pitchFamily="34" charset="0"/>
                <a:cs typeface="Segoe UI" panose="020B0502040204020203" pitchFamily="34" charset="0"/>
              </a:rPr>
              <a:t>**most commonly missed**</a:t>
            </a:r>
            <a:r>
              <a:rPr lang="en-CA" sz="5600" dirty="0">
                <a:latin typeface="Segoe UI" panose="020B0502040204020203" pitchFamily="34" charset="0"/>
                <a:cs typeface="Segoe UI" panose="020B0502040204020203" pitchFamily="34" charset="0"/>
              </a:rPr>
              <a:t> (flights, drives, working meals)</a:t>
            </a:r>
          </a:p>
          <a:p>
            <a:pPr marL="0" indent="0">
              <a:buNone/>
            </a:pPr>
            <a:r>
              <a:rPr lang="en-CA" sz="5600" dirty="0">
                <a:latin typeface="Segoe UI" panose="020B0502040204020203" pitchFamily="34" charset="0"/>
                <a:cs typeface="Segoe UI" panose="020B0502040204020203" pitchFamily="34" charset="0"/>
              </a:rPr>
              <a:t>- 📅 Client meetings </a:t>
            </a:r>
            <a:r>
              <a:rPr lang="en-CA" sz="5600" b="1" dirty="0">
                <a:latin typeface="Segoe UI" panose="020B0502040204020203" pitchFamily="34" charset="0"/>
                <a:cs typeface="Segoe UI" panose="020B0502040204020203" pitchFamily="34" charset="0"/>
              </a:rPr>
              <a:t>**forgotten**</a:t>
            </a:r>
            <a:r>
              <a:rPr lang="en-CA" sz="5600" dirty="0">
                <a:latin typeface="Segoe UI" panose="020B0502040204020203" pitchFamily="34" charset="0"/>
                <a:cs typeface="Segoe UI" panose="020B0502040204020203" pitchFamily="34" charset="0"/>
              </a:rPr>
              <a:t> in timesheet records</a:t>
            </a:r>
          </a:p>
          <a:p>
            <a:pPr marL="0" indent="0">
              <a:buNone/>
            </a:pPr>
            <a:r>
              <a:rPr lang="en-CA" sz="5600" dirty="0">
                <a:latin typeface="Segoe UI" panose="020B0502040204020203" pitchFamily="34" charset="0"/>
                <a:cs typeface="Segoe UI" panose="020B0502040204020203" pitchFamily="34" charset="0"/>
              </a:rPr>
              <a:t>- 🔄 Manual reconciliation </a:t>
            </a:r>
            <a:r>
              <a:rPr lang="en-CA" sz="5600" b="1" dirty="0">
                <a:latin typeface="Segoe UI" panose="020B0502040204020203" pitchFamily="34" charset="0"/>
                <a:cs typeface="Segoe UI" panose="020B0502040204020203" pitchFamily="34" charset="0"/>
              </a:rPr>
              <a:t>**wastes 15-20 minutes/week**</a:t>
            </a:r>
            <a:endParaRPr lang="en-CA" sz="56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br>
              <a:rPr lang="en-CA" sz="5600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endParaRPr lang="en-CA" sz="56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CA" sz="5600" b="1" dirty="0">
                <a:latin typeface="Segoe UI" panose="020B0502040204020203" pitchFamily="34" charset="0"/>
                <a:cs typeface="Segoe UI" panose="020B0502040204020203" pitchFamily="34" charset="0"/>
              </a:rPr>
              <a:t>**Business Impact**</a:t>
            </a:r>
            <a:r>
              <a:rPr lang="en-CA" sz="5600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pPr marL="0" indent="0">
              <a:buNone/>
            </a:pPr>
            <a:r>
              <a:rPr lang="en-CA" sz="5600" dirty="0">
                <a:latin typeface="Segoe UI" panose="020B0502040204020203" pitchFamily="34" charset="0"/>
                <a:cs typeface="Segoe UI" panose="020B0502040204020203" pitchFamily="34" charset="0"/>
              </a:rPr>
              <a:t>- 💰 </a:t>
            </a:r>
            <a:r>
              <a:rPr lang="en-CA" sz="5600" b="1" dirty="0">
                <a:latin typeface="Segoe UI" panose="020B0502040204020203" pitchFamily="34" charset="0"/>
                <a:cs typeface="Segoe UI" panose="020B0502040204020203" pitchFamily="34" charset="0"/>
              </a:rPr>
              <a:t>**$1,000/week**</a:t>
            </a:r>
            <a:r>
              <a:rPr lang="en-CA" sz="5600" dirty="0">
                <a:latin typeface="Segoe UI" panose="020B0502040204020203" pitchFamily="34" charset="0"/>
                <a:cs typeface="Segoe UI" panose="020B0502040204020203" pitchFamily="34" charset="0"/>
              </a:rPr>
              <a:t> lost revenue per consultant</a:t>
            </a:r>
          </a:p>
          <a:p>
            <a:pPr marL="0" indent="0">
              <a:buNone/>
            </a:pPr>
            <a:r>
              <a:rPr lang="en-CA" sz="5600" dirty="0">
                <a:latin typeface="Segoe UI" panose="020B0502040204020203" pitchFamily="34" charset="0"/>
                <a:cs typeface="Segoe UI" panose="020B0502040204020203" pitchFamily="34" charset="0"/>
              </a:rPr>
              <a:t>- ⏱️ </a:t>
            </a:r>
            <a:r>
              <a:rPr lang="en-CA" sz="5600" b="1" dirty="0">
                <a:latin typeface="Segoe UI" panose="020B0502040204020203" pitchFamily="34" charset="0"/>
                <a:cs typeface="Segoe UI" panose="020B0502040204020203" pitchFamily="34" charset="0"/>
              </a:rPr>
              <a:t>**15-20 minutes/week**</a:t>
            </a:r>
            <a:r>
              <a:rPr lang="en-CA" sz="5600" dirty="0">
                <a:latin typeface="Segoe UI" panose="020B0502040204020203" pitchFamily="34" charset="0"/>
                <a:cs typeface="Segoe UI" panose="020B0502040204020203" pitchFamily="34" charset="0"/>
              </a:rPr>
              <a:t> on manual reviews</a:t>
            </a:r>
          </a:p>
          <a:p>
            <a:pPr marL="0" indent="0">
              <a:buNone/>
            </a:pPr>
            <a:r>
              <a:rPr lang="en-CA" sz="5600" dirty="0">
                <a:latin typeface="Segoe UI" panose="020B0502040204020203" pitchFamily="34" charset="0"/>
                <a:cs typeface="Segoe UI" panose="020B0502040204020203" pitchFamily="34" charset="0"/>
              </a:rPr>
              <a:t>- ⚠️ </a:t>
            </a:r>
            <a:r>
              <a:rPr lang="en-CA" sz="5600" b="1" dirty="0">
                <a:latin typeface="Segoe UI" panose="020B0502040204020203" pitchFamily="34" charset="0"/>
                <a:cs typeface="Segoe UI" panose="020B0502040204020203" pitchFamily="34" charset="0"/>
              </a:rPr>
              <a:t>**Compliance risks**</a:t>
            </a:r>
            <a:r>
              <a:rPr lang="en-CA" sz="5600" dirty="0">
                <a:latin typeface="Segoe UI" panose="020B0502040204020203" pitchFamily="34" charset="0"/>
                <a:cs typeface="Segoe UI" panose="020B0502040204020203" pitchFamily="34" charset="0"/>
              </a:rPr>
              <a:t> from incomplete records</a:t>
            </a:r>
          </a:p>
          <a:p>
            <a:pPr marL="0" indent="0">
              <a:buNone/>
            </a:pPr>
            <a:r>
              <a:rPr lang="en-CA" sz="5600" dirty="0">
                <a:latin typeface="Segoe UI" panose="020B0502040204020203" pitchFamily="34" charset="0"/>
                <a:cs typeface="Segoe UI" panose="020B0502040204020203" pitchFamily="34" charset="0"/>
              </a:rPr>
              <a:t>- 📉 </a:t>
            </a:r>
            <a:r>
              <a:rPr lang="en-CA" sz="5600" b="1" dirty="0">
                <a:latin typeface="Segoe UI" panose="020B0502040204020203" pitchFamily="34" charset="0"/>
                <a:cs typeface="Segoe UI" panose="020B0502040204020203" pitchFamily="34" charset="0"/>
              </a:rPr>
              <a:t>**Billing inconsistencies**</a:t>
            </a:r>
            <a:r>
              <a:rPr lang="en-CA" sz="5600" dirty="0">
                <a:latin typeface="Segoe UI" panose="020B0502040204020203" pitchFamily="34" charset="0"/>
                <a:cs typeface="Segoe UI" panose="020B0502040204020203" pitchFamily="34" charset="0"/>
              </a:rPr>
              <a:t> damage client trust</a:t>
            </a:r>
          </a:p>
          <a:p>
            <a:pPr marL="0" indent="0">
              <a:buNone/>
            </a:pPr>
            <a:br>
              <a:rPr lang="en-CA" sz="5600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endParaRPr lang="en-CA" sz="56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2702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2E313-8B26-579B-5772-A0A3AB552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0"/>
            <a:ext cx="8229600" cy="403054"/>
          </a:xfrm>
        </p:spPr>
        <p:txBody>
          <a:bodyPr>
            <a:normAutofit fontScale="90000"/>
          </a:bodyPr>
          <a:lstStyle/>
          <a:p>
            <a:r>
              <a:rPr lang="en-US" dirty="0"/>
              <a:t>Architecture Diagram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63CF008-7154-D721-5A2F-EAEC7DA60B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064" y="477509"/>
            <a:ext cx="8547872" cy="621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4775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781E2-DBAE-6F29-F34C-7BAF57C51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Flow Diagram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EB5D3F-5E0A-9784-38EE-FA3B163E35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022" y="2265004"/>
            <a:ext cx="11639955" cy="2327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4770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8C28B-87F5-F0F5-71E0-D3F7E6B82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74639"/>
            <a:ext cx="8229600" cy="537125"/>
          </a:xfrm>
        </p:spPr>
        <p:txBody>
          <a:bodyPr>
            <a:normAutofit fontScale="90000"/>
          </a:bodyPr>
          <a:lstStyle/>
          <a:p>
            <a:r>
              <a:rPr lang="en-US" dirty="0"/>
              <a:t>Sequence Diagram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ADC5DF-6C32-99A6-3987-905549EB16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20" y="863082"/>
            <a:ext cx="7772400" cy="585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5441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473C5-DBD4-48E3-CD83-DA6D76779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42300" y="89444"/>
            <a:ext cx="8229600" cy="393182"/>
          </a:xfrm>
        </p:spPr>
        <p:txBody>
          <a:bodyPr>
            <a:normAutofit fontScale="90000"/>
          </a:bodyPr>
          <a:lstStyle/>
          <a:p>
            <a:r>
              <a:rPr lang="en-US" dirty="0"/>
              <a:t>Architecture Diagram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6D65210-0EDC-4A69-8E8A-CD9FFE81D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891" y="625033"/>
            <a:ext cx="11416217" cy="6143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4874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F36458-EBEA-2ECC-DCFC-3290950D1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 Manager Diagram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7C394D-BAF1-729F-EE82-34FBC7CFA7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75" y="1856159"/>
            <a:ext cx="12131449" cy="3145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53715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279912-5532-C200-3CD5-699A78AE9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24280"/>
            <a:ext cx="10972800" cy="300715"/>
          </a:xfrm>
        </p:spPr>
        <p:txBody>
          <a:bodyPr>
            <a:normAutofit fontScale="90000"/>
          </a:bodyPr>
          <a:lstStyle/>
          <a:p>
            <a:r>
              <a:rPr lang="en-US" dirty="0"/>
              <a:t>Sequence Diagram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AFFF90-59AC-C58B-7D83-37A456F335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253" y="652539"/>
            <a:ext cx="8691081" cy="5930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94582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B1241-F06C-E195-B2F7-70D44400D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3653"/>
            <a:ext cx="10972800" cy="361970"/>
          </a:xfrm>
        </p:spPr>
        <p:txBody>
          <a:bodyPr>
            <a:normAutofit fontScale="90000"/>
          </a:bodyPr>
          <a:lstStyle/>
          <a:p>
            <a:r>
              <a:rPr lang="en-US" dirty="0"/>
              <a:t>Architecture Diagram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FB12A5-AC8F-44D0-E41B-B5C8EA3915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17" y="697781"/>
            <a:ext cx="12012365" cy="5462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6287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31846E-32CF-6F92-4CA8-A60E6542FC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01018"/>
            <a:ext cx="10972800" cy="385119"/>
          </a:xfrm>
        </p:spPr>
        <p:txBody>
          <a:bodyPr>
            <a:normAutofit fontScale="90000"/>
          </a:bodyPr>
          <a:lstStyle/>
          <a:p>
            <a:r>
              <a:rPr lang="en-US" dirty="0"/>
              <a:t>Agent Specialization Diagram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2F3298-17DB-FA48-C8A3-C5FDB9B565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42" y="2050862"/>
            <a:ext cx="12106516" cy="2756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23117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B4AC9-95E2-55A1-57A2-BB222AAB79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01018"/>
            <a:ext cx="10972800" cy="315671"/>
          </a:xfrm>
        </p:spPr>
        <p:txBody>
          <a:bodyPr>
            <a:normAutofit fontScale="90000"/>
          </a:bodyPr>
          <a:lstStyle/>
          <a:p>
            <a:r>
              <a:rPr lang="en-US" dirty="0"/>
              <a:t>Sequence Flow Diagram (1)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31600E-1CB0-7D77-A150-58CC1EED6A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095" y="1093347"/>
            <a:ext cx="11479810" cy="4671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3151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2D06C-7827-0CBE-3576-3D370F3DE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87514"/>
            <a:ext cx="10972800" cy="413731"/>
          </a:xfrm>
        </p:spPr>
        <p:txBody>
          <a:bodyPr>
            <a:normAutofit fontScale="90000"/>
          </a:bodyPr>
          <a:lstStyle/>
          <a:p>
            <a:r>
              <a:rPr lang="en-US" dirty="0"/>
              <a:t>Sequence Flow Diagram (2)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0D834AE-1157-805B-4EF7-EA14B4F1CF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1358" y="599833"/>
            <a:ext cx="9637603" cy="6170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460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190</TotalTime>
  <Words>159</Words>
  <Application>Microsoft Macintosh PowerPoint</Application>
  <PresentationFormat>Widescreen</PresentationFormat>
  <Paragraphs>29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Arial</vt:lpstr>
      <vt:lpstr>Calibri</vt:lpstr>
      <vt:lpstr>Segoe UI</vt:lpstr>
      <vt:lpstr>Office Theme</vt:lpstr>
      <vt:lpstr>Contoso Consulting Group — Intelligent Time &amp; Expense Assistant</vt:lpstr>
      <vt:lpstr>Contoso Consulting Group — Multi-Agent Timesheet Assistant</vt:lpstr>
      <vt:lpstr>Architecture Diagram</vt:lpstr>
      <vt:lpstr>Flow Diagram</vt:lpstr>
      <vt:lpstr>Sequence Diagram</vt:lpstr>
      <vt:lpstr>Architecture Diagram</vt:lpstr>
      <vt:lpstr>Workflow Manager Diagram</vt:lpstr>
      <vt:lpstr>Sequence Diagram</vt:lpstr>
      <vt:lpstr>Architecture Diagram</vt:lpstr>
      <vt:lpstr>Agent Specialization Diagram</vt:lpstr>
      <vt:lpstr>Sequence Flow Diagram (1)</vt:lpstr>
      <vt:lpstr>Sequence Flow Diagram (2)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Arturo Quiroga</cp:lastModifiedBy>
  <cp:revision>12</cp:revision>
  <dcterms:created xsi:type="dcterms:W3CDTF">2013-01-27T09:14:16Z</dcterms:created>
  <dcterms:modified xsi:type="dcterms:W3CDTF">2025-11-01T20:34:07Z</dcterms:modified>
  <cp:category/>
</cp:coreProperties>
</file>